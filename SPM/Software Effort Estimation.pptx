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sldIdLst>
    <p:sldId id="344" r:id="rId2"/>
    <p:sldId id="606" r:id="rId3"/>
    <p:sldId id="686" r:id="rId4"/>
    <p:sldId id="677" r:id="rId5"/>
    <p:sldId id="679" r:id="rId6"/>
    <p:sldId id="680" r:id="rId7"/>
    <p:sldId id="681" r:id="rId8"/>
    <p:sldId id="687" r:id="rId9"/>
    <p:sldId id="688" r:id="rId10"/>
    <p:sldId id="689" r:id="rId11"/>
    <p:sldId id="690" r:id="rId12"/>
    <p:sldId id="691" r:id="rId13"/>
    <p:sldId id="692" r:id="rId14"/>
    <p:sldId id="693" r:id="rId15"/>
    <p:sldId id="695" r:id="rId16"/>
    <p:sldId id="696" r:id="rId17"/>
    <p:sldId id="697" r:id="rId18"/>
    <p:sldId id="698" r:id="rId19"/>
    <p:sldId id="699" r:id="rId20"/>
    <p:sldId id="700" r:id="rId21"/>
    <p:sldId id="701" r:id="rId22"/>
    <p:sldId id="702" r:id="rId23"/>
    <p:sldId id="703" r:id="rId24"/>
    <p:sldId id="704" r:id="rId25"/>
    <p:sldId id="705" r:id="rId26"/>
    <p:sldId id="706" r:id="rId27"/>
    <p:sldId id="711" r:id="rId28"/>
    <p:sldId id="707" r:id="rId29"/>
    <p:sldId id="709" r:id="rId30"/>
    <p:sldId id="710" r:id="rId31"/>
    <p:sldId id="712" r:id="rId32"/>
    <p:sldId id="713" r:id="rId33"/>
    <p:sldId id="715" r:id="rId34"/>
    <p:sldId id="716" r:id="rId35"/>
    <p:sldId id="717" r:id="rId36"/>
    <p:sldId id="718" r:id="rId37"/>
    <p:sldId id="719" r:id="rId38"/>
    <p:sldId id="720" r:id="rId39"/>
    <p:sldId id="721" r:id="rId40"/>
    <p:sldId id="722" r:id="rId41"/>
    <p:sldId id="723" r:id="rId42"/>
    <p:sldId id="724" r:id="rId43"/>
    <p:sldId id="725" r:id="rId44"/>
    <p:sldId id="726" r:id="rId45"/>
    <p:sldId id="728" r:id="rId46"/>
    <p:sldId id="729" r:id="rId47"/>
    <p:sldId id="730" r:id="rId48"/>
    <p:sldId id="731" r:id="rId49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58" y="3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5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33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440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693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661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926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792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551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307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317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725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980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212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30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951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201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732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893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509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399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943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982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715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592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941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912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30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888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0724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2758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932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07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9562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1929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752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4998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3518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7078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68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1740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8259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694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7561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2938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1062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5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isbsg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Effort Estimation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Introduction: Why Estimation is Important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3544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 successful project delivers software on time, within budget, and meets the requirements.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If estimates are wrong, projects may miss deadlines or go over budget, even if the team works hard.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Estimating is hard because software is: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Complex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Invisible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Involves human activities that are not mechanical or predictable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fontAlgn="base"/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8" y="402937"/>
            <a:ext cx="4431695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Other difficulties include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Subjective nature of estimating: </a:t>
            </a:r>
            <a:r>
              <a:rPr lang="en-US" sz="1100" dirty="0"/>
              <a:t>People often underestimate small tasks and overestimate big 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Political Implications: </a:t>
            </a:r>
            <a:r>
              <a:rPr lang="en-US" sz="1100" dirty="0"/>
              <a:t>Managers may adjust estimates to fit personal or team goals.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Changing Technology: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Lack of homogeneity of project experience: 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66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577E5-8558-45CD-9C26-B0C50D460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7014"/>
            <a:ext cx="4608513" cy="250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1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(contd..)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E0453-F40C-402A-8F94-83E110D2D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0177"/>
            <a:ext cx="4608513" cy="98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08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(Contd..)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431635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/>
            <a:r>
              <a:rPr lang="en-US" sz="1100" dirty="0"/>
              <a:t>Estimated Effort (WM)=SLOC/ Average Productivity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/>
            <a:r>
              <a:rPr lang="en-US" sz="1100" dirty="0"/>
              <a:t>Average Productivity = Total SLOC from all projects​/Total Work Months from all projects</a:t>
            </a:r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6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Where Are Estimates Done?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408" y="431635"/>
            <a:ext cx="4431695" cy="3154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fontAlgn="base"/>
            <a:endParaRPr lang="en-US" altLang="zh-CN" sz="1100" spc="-20" dirty="0">
              <a:ea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Strategic Planning</a:t>
            </a:r>
            <a:endParaRPr lang="en-IN" sz="1100" dirty="0"/>
          </a:p>
          <a:p>
            <a:pPr lvl="0"/>
            <a:r>
              <a:rPr lang="en-IN" sz="1100" b="1" dirty="0"/>
              <a:t>Why?</a:t>
            </a:r>
            <a:r>
              <a:rPr lang="en-IN" sz="1100" dirty="0"/>
              <a:t> To decide which projects to take up and how much benefit they will bring.</a:t>
            </a:r>
          </a:p>
          <a:p>
            <a:pPr lvl="0"/>
            <a:r>
              <a:rPr lang="en-IN" sz="1100" b="1" dirty="0"/>
              <a:t>What is estimated?</a:t>
            </a:r>
            <a:endParaRPr lang="en-IN" sz="1100" dirty="0"/>
          </a:p>
          <a:p>
            <a:pPr lvl="1"/>
            <a:r>
              <a:rPr lang="en-IN" sz="1100" dirty="0"/>
              <a:t>Cost to build the system</a:t>
            </a:r>
          </a:p>
          <a:p>
            <a:pPr lvl="1"/>
            <a:r>
              <a:rPr lang="en-IN" sz="1100" dirty="0"/>
              <a:t>Benefits to the organization</a:t>
            </a:r>
          </a:p>
          <a:p>
            <a:pPr lvl="0"/>
            <a:r>
              <a:rPr lang="en-IN" sz="1100" b="1" dirty="0"/>
              <a:t>Use:</a:t>
            </a:r>
            <a:r>
              <a:rPr lang="en-IN" sz="1100" dirty="0"/>
              <a:t> Helps in prioritizing projects and budget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sz="1100" b="1" dirty="0"/>
              <a:t>Feasibility Study</a:t>
            </a:r>
            <a:endParaRPr lang="en-IN" sz="1100" dirty="0"/>
          </a:p>
          <a:p>
            <a:pPr lvl="0"/>
            <a:r>
              <a:rPr lang="en-IN" sz="1100" b="1" dirty="0"/>
              <a:t>Why?</a:t>
            </a:r>
            <a:r>
              <a:rPr lang="en-IN" sz="1100" dirty="0"/>
              <a:t> To check if the project is practical and worth doing.</a:t>
            </a:r>
          </a:p>
          <a:p>
            <a:pPr lvl="0"/>
            <a:r>
              <a:rPr lang="en-IN" sz="1100" b="1" dirty="0"/>
              <a:t>What is estimated?</a:t>
            </a:r>
            <a:endParaRPr lang="en-IN" sz="1100" dirty="0"/>
          </a:p>
          <a:p>
            <a:pPr lvl="1"/>
            <a:r>
              <a:rPr lang="en-IN" sz="1100" dirty="0"/>
              <a:t>Effort required</a:t>
            </a:r>
          </a:p>
          <a:p>
            <a:pPr lvl="1"/>
            <a:r>
              <a:rPr lang="en-IN" sz="1100" dirty="0"/>
              <a:t>Cost involved</a:t>
            </a:r>
          </a:p>
          <a:p>
            <a:pPr lvl="1"/>
            <a:r>
              <a:rPr lang="en-IN" sz="1100" dirty="0"/>
              <a:t>Timeline</a:t>
            </a:r>
          </a:p>
          <a:p>
            <a:pPr lvl="0"/>
            <a:r>
              <a:rPr lang="en-IN" sz="1100" b="1" dirty="0"/>
              <a:t>Use:</a:t>
            </a:r>
            <a:r>
              <a:rPr lang="en-IN" sz="1100" dirty="0"/>
              <a:t> Helps in deciding whether the benefits justify the costs.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899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Where Are Estimates Done?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408" y="431635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fontAlgn="base"/>
            <a:endParaRPr lang="en-US" altLang="zh-CN" sz="1100" spc="-20" dirty="0">
              <a:ea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/>
              <a:t>System Specification</a:t>
            </a:r>
            <a:endParaRPr lang="en-IN" sz="1100" dirty="0"/>
          </a:p>
          <a:p>
            <a:pPr lvl="0"/>
            <a:r>
              <a:rPr lang="en-IN" sz="1100" b="1" dirty="0"/>
              <a:t>Why?</a:t>
            </a:r>
            <a:r>
              <a:rPr lang="en-IN" sz="1100" dirty="0"/>
              <a:t> To estimate effort based on actual requirements and design.</a:t>
            </a:r>
          </a:p>
          <a:p>
            <a:pPr lvl="0"/>
            <a:r>
              <a:rPr lang="en-IN" sz="1100" b="1" dirty="0"/>
              <a:t>What is estimated?</a:t>
            </a:r>
            <a:endParaRPr lang="en-IN" sz="1100" dirty="0"/>
          </a:p>
          <a:p>
            <a:pPr lvl="1"/>
            <a:r>
              <a:rPr lang="en-IN" sz="1100" dirty="0"/>
              <a:t>Time, resources, and cost to implement each part of the system</a:t>
            </a:r>
          </a:p>
          <a:p>
            <a:pPr lvl="0"/>
            <a:r>
              <a:rPr lang="en-IN" sz="1100" b="1" dirty="0"/>
              <a:t>Use:</a:t>
            </a:r>
            <a:r>
              <a:rPr lang="en-IN" sz="1100" dirty="0"/>
              <a:t> Helps in confirming feasibility and in detailed project planning.</a:t>
            </a:r>
          </a:p>
          <a:p>
            <a:pPr lvl="1"/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Evaluation of Supplier Proposals</a:t>
            </a:r>
            <a:endParaRPr lang="en-IN" sz="1100" dirty="0"/>
          </a:p>
          <a:p>
            <a:pPr lvl="0"/>
            <a:r>
              <a:rPr lang="en-IN" sz="1100" b="1" dirty="0"/>
              <a:t>Why?</a:t>
            </a:r>
            <a:r>
              <a:rPr lang="en-IN" sz="1100" dirty="0"/>
              <a:t> When software is being outsourced or purchased.</a:t>
            </a:r>
          </a:p>
          <a:p>
            <a:pPr lvl="0"/>
            <a:r>
              <a:rPr lang="en-IN" sz="1100" b="1" dirty="0"/>
              <a:t>What is estimated?</a:t>
            </a:r>
            <a:endParaRPr lang="en-IN" sz="1100" dirty="0"/>
          </a:p>
          <a:p>
            <a:pPr lvl="1"/>
            <a:r>
              <a:rPr lang="en-IN" sz="1100" dirty="0"/>
              <a:t>Suppliers submit proposals with their own time and cost estimates.</a:t>
            </a:r>
          </a:p>
          <a:p>
            <a:pPr lvl="1"/>
            <a:r>
              <a:rPr lang="en-IN" sz="1100" dirty="0"/>
              <a:t>The organization must evaluate if the supplier’s estimate is reasonable and reliable.</a:t>
            </a:r>
          </a:p>
          <a:p>
            <a:pPr lvl="0"/>
            <a:r>
              <a:rPr lang="en-IN" sz="1100" b="1" dirty="0"/>
              <a:t>Use:</a:t>
            </a:r>
            <a:r>
              <a:rPr lang="en-IN" sz="1100" dirty="0"/>
              <a:t> Helps in selecting the right vendor based on cost, time, and quality.</a:t>
            </a:r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60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Where Are Estimates Done?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/>
              <a:t>Project Planning</a:t>
            </a:r>
            <a:endParaRPr lang="en-IN" sz="1100" dirty="0"/>
          </a:p>
          <a:p>
            <a:pPr lvl="0"/>
            <a:r>
              <a:rPr lang="en-IN" sz="1100" b="1" dirty="0"/>
              <a:t>       Why?</a:t>
            </a:r>
            <a:r>
              <a:rPr lang="en-IN" sz="1100" dirty="0"/>
              <a:t> For detailed scheduling and resource allocation.</a:t>
            </a:r>
          </a:p>
          <a:p>
            <a:pPr lvl="0"/>
            <a:r>
              <a:rPr lang="en-IN" sz="1100" b="1" dirty="0"/>
              <a:t>       What is estimated?</a:t>
            </a:r>
            <a:endParaRPr lang="en-IN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How long each task will take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How many people are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Dependencies between tasks</a:t>
            </a:r>
          </a:p>
          <a:p>
            <a:pPr lvl="1"/>
            <a:r>
              <a:rPr lang="en-IN" sz="1100" b="1" dirty="0"/>
              <a:t>Use:</a:t>
            </a:r>
            <a:r>
              <a:rPr lang="en-IN" sz="1100" dirty="0"/>
              <a:t> Helps in creating a </a:t>
            </a:r>
            <a:r>
              <a:rPr lang="en-IN" sz="1100" b="1" dirty="0"/>
              <a:t>realistic and detailed project plan</a:t>
            </a:r>
            <a:r>
              <a:rPr lang="en-IN" sz="1100" dirty="0"/>
              <a:t> to manage the entire development process.</a:t>
            </a:r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25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Problems with Over- and Under-Estimates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pPr lvl="0"/>
            <a:r>
              <a:rPr lang="en-IN" sz="1100" dirty="0"/>
              <a:t>If the project is </a:t>
            </a:r>
            <a:r>
              <a:rPr lang="en-IN" sz="1100" b="1" dirty="0"/>
              <a:t>given more time and people</a:t>
            </a:r>
            <a:r>
              <a:rPr lang="en-IN" sz="1100" dirty="0"/>
              <a:t> than needed: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People may </a:t>
            </a:r>
            <a:r>
              <a:rPr lang="en-IN" sz="1100" b="1" dirty="0"/>
              <a:t>slow down</a:t>
            </a:r>
            <a:r>
              <a:rPr lang="en-IN" sz="1100" dirty="0"/>
              <a:t> their work (because there’s no urgency).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This is explained by </a:t>
            </a:r>
            <a:r>
              <a:rPr lang="en-IN" sz="1100" b="1" dirty="0"/>
              <a:t>Parkinson’s Law</a:t>
            </a:r>
            <a:r>
              <a:rPr lang="en-IN" sz="1100" dirty="0"/>
              <a:t>:</a:t>
            </a:r>
          </a:p>
          <a:p>
            <a:r>
              <a:rPr lang="en-IN" sz="1100" i="1" dirty="0"/>
              <a:t>	“Work expands to fill the time available.”</a:t>
            </a:r>
            <a:br>
              <a:rPr lang="en-IN" sz="1100" dirty="0"/>
            </a:br>
            <a:r>
              <a:rPr lang="en-IN" sz="1100" dirty="0"/>
              <a:t>If people are given more time, they will take more time. More staff leads to </a:t>
            </a:r>
            <a:r>
              <a:rPr lang="en-IN" sz="1100" b="1" dirty="0"/>
              <a:t>extra communication and coordination effort</a:t>
            </a:r>
            <a:r>
              <a:rPr lang="en-IN" sz="1100" dirty="0"/>
              <a:t>.</a:t>
            </a:r>
          </a:p>
          <a:p>
            <a:pPr lvl="1" fontAlgn="base"/>
            <a:endParaRPr lang="en-US" sz="1100" dirty="0"/>
          </a:p>
          <a:p>
            <a:pPr lvl="1" fontAlgn="base"/>
            <a:r>
              <a:rPr lang="en-IN" sz="1100" b="1" dirty="0"/>
              <a:t>Example</a:t>
            </a:r>
            <a:r>
              <a:rPr lang="en-IN" sz="1100" dirty="0"/>
              <a:t>:</a:t>
            </a:r>
            <a:br>
              <a:rPr lang="en-IN" sz="1100" dirty="0"/>
            </a:br>
            <a:r>
              <a:rPr lang="en-IN" sz="1100" dirty="0"/>
              <a:t>If a job could be done by 3 people in 2 months, and instead you assign 6 people for 4 months, work might get delayed because of confusion, waiting, and meetings.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9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Problems with Over- and Under-Estimates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r>
              <a:rPr lang="en-IN" sz="1100" b="1" dirty="0"/>
              <a:t>What happens when estimates are too low (under-estimate)?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Project may: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b="1" dirty="0"/>
              <a:t>Miss deadlines</a:t>
            </a:r>
            <a:endParaRPr lang="en-IN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b="1" dirty="0"/>
              <a:t>Produce low-quality software</a:t>
            </a:r>
            <a:r>
              <a:rPr lang="en-IN" sz="1100" dirty="0"/>
              <a:t>, especially if staff are inexperienced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People rush due to time pressure → results in </a:t>
            </a:r>
            <a:r>
              <a:rPr lang="en-IN" sz="1100" b="1" dirty="0"/>
              <a:t>bugs, shortcuts, and low-quality code</a:t>
            </a:r>
            <a:r>
              <a:rPr lang="en-IN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Sometimes, people may still finish the project under pressure, but: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The </a:t>
            </a:r>
            <a:r>
              <a:rPr lang="en-IN" sz="1100" b="1" dirty="0"/>
              <a:t>quality suffers</a:t>
            </a:r>
            <a:r>
              <a:rPr lang="en-IN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Morale drops.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If staff always work under such pressure, they may become </a:t>
            </a:r>
            <a:r>
              <a:rPr lang="en-IN" sz="1100" b="1" dirty="0"/>
              <a:t>demotivated</a:t>
            </a:r>
            <a:r>
              <a:rPr lang="en-IN" sz="1100" dirty="0"/>
              <a:t>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925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Two Important Laws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r>
              <a:rPr lang="en-IN" sz="1100" b="1" i="1" dirty="0"/>
              <a:t>1. Parkinson’s Law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i="1" dirty="0"/>
              <a:t>“Work expands to fill the time available.”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If you give people too much time, they may delay work unnecessarily.</a:t>
            </a:r>
          </a:p>
          <a:p>
            <a:r>
              <a:rPr lang="en-IN" sz="1100" b="1" i="1" dirty="0"/>
              <a:t>2. Brooks’ Law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i="1" dirty="0"/>
              <a:t>“Adding more people to a late project makes it later.”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If a project is behind schedule, </a:t>
            </a:r>
            <a:r>
              <a:rPr lang="en-IN" sz="1100" b="1" dirty="0"/>
              <a:t>just adding people doesn’t help</a:t>
            </a:r>
            <a:r>
              <a:rPr lang="en-IN" sz="1100" dirty="0"/>
              <a:t> — it increases confusion and communication effort.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158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The Basis for Software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pPr marL="228600" indent="-228600">
              <a:buAutoNum type="arabicPeriod"/>
            </a:pPr>
            <a:r>
              <a:rPr lang="en-IN" sz="1100" b="1" i="1" dirty="0"/>
              <a:t>Need for historical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Most methods need information about past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If past data is lacking, externally maintained datasets of project performance data can be accessed.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International Software Benchmarking Standards Group (ISBSG) contains data about 4800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3"/>
              </a:rPr>
              <a:t>http://isbsg.org</a:t>
            </a:r>
            <a:endParaRPr lang="en-US" sz="1100" dirty="0"/>
          </a:p>
          <a:p>
            <a:endParaRPr lang="en-US" sz="1100" dirty="0"/>
          </a:p>
          <a:p>
            <a:r>
              <a:rPr lang="en-US" sz="1100" b="1" i="1" dirty="0"/>
              <a:t>2. Measure of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Also called the size of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Metrics used to measure the size are SLOC and FP.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SLOC is simpler and it is widely used.</a:t>
            </a:r>
            <a:endParaRPr lang="en-IN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669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The Basis for Software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fontAlgn="base"/>
            <a:r>
              <a:rPr lang="en-US" altLang="zh-CN" sz="1100" spc="-20" dirty="0">
                <a:latin typeface="Times New Roman"/>
                <a:ea typeface="Times New Roman"/>
              </a:rPr>
              <a:t>Major drawbacks of SLOC are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marL="1085850" lvl="2" indent="-171450" fontAlgn="base">
              <a:buFont typeface="Arial" panose="020B0604020202020204" pitchFamily="34" charset="0"/>
              <a:buChar char="•"/>
            </a:pPr>
            <a:r>
              <a:rPr lang="en-US" altLang="zh-CN" sz="1100" spc="-20" dirty="0">
                <a:latin typeface="Times New Roman"/>
                <a:ea typeface="Times New Roman"/>
              </a:rPr>
              <a:t>No precise definition</a:t>
            </a:r>
          </a:p>
          <a:p>
            <a:pPr marL="1085850" lvl="2" indent="-171450" fontAlgn="base">
              <a:buFont typeface="Arial" panose="020B0604020202020204" pitchFamily="34" charset="0"/>
              <a:buChar char="•"/>
            </a:pPr>
            <a:r>
              <a:rPr lang="en-US" altLang="zh-CN" sz="1100" spc="-20" dirty="0">
                <a:latin typeface="Times New Roman"/>
                <a:ea typeface="Times New Roman"/>
              </a:rPr>
              <a:t>Difficult to estimate at the start of the project.</a:t>
            </a:r>
          </a:p>
          <a:p>
            <a:pPr marL="1085850" lvl="2" indent="-171450" fontAlgn="base">
              <a:buFont typeface="Arial" panose="020B0604020202020204" pitchFamily="34" charset="0"/>
              <a:buChar char="•"/>
            </a:pPr>
            <a:r>
              <a:rPr lang="en-US" altLang="zh-CN" sz="1100" spc="-20" dirty="0">
                <a:latin typeface="Times New Roman"/>
                <a:ea typeface="Times New Roman"/>
              </a:rPr>
              <a:t>Only a code measure</a:t>
            </a:r>
          </a:p>
          <a:p>
            <a:pPr marL="1085850" lvl="2" indent="-171450" fontAlgn="base">
              <a:buFont typeface="Arial" panose="020B0604020202020204" pitchFamily="34" charset="0"/>
              <a:buChar char="•"/>
            </a:pPr>
            <a:r>
              <a:rPr lang="en-US" altLang="zh-CN" sz="1100" spc="-20" dirty="0">
                <a:latin typeface="Times New Roman"/>
                <a:ea typeface="Times New Roman"/>
              </a:rPr>
              <a:t>Programmer dependent</a:t>
            </a:r>
          </a:p>
          <a:p>
            <a:pPr marL="1085850" lvl="2" indent="-171450" fontAlgn="base">
              <a:buFont typeface="Arial" panose="020B0604020202020204" pitchFamily="34" charset="0"/>
              <a:buChar char="•"/>
            </a:pPr>
            <a:r>
              <a:rPr lang="en-US" altLang="zh-CN" sz="1100" spc="-20" dirty="0">
                <a:latin typeface="Times New Roman"/>
                <a:ea typeface="Times New Roman"/>
              </a:rPr>
              <a:t>Does not consider the code complexity</a:t>
            </a:r>
          </a:p>
          <a:p>
            <a:pPr lvl="2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422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The Basis for Software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altLang="zh-CN" sz="1100" spc="-20" dirty="0">
              <a:ea typeface="Times New Roman"/>
            </a:endParaRPr>
          </a:p>
          <a:p>
            <a:r>
              <a:rPr lang="en-US" sz="1100" b="1" i="1" dirty="0"/>
              <a:t>3. Measure of effort</a:t>
            </a:r>
          </a:p>
          <a:p>
            <a:endParaRPr lang="en-IN" sz="1100" dirty="0"/>
          </a:p>
          <a:p>
            <a:r>
              <a:rPr lang="en-US" sz="1100" b="1" dirty="0"/>
              <a:t>What is a Person-Month (PM)?</a:t>
            </a:r>
          </a:p>
          <a:p>
            <a:r>
              <a:rPr lang="en-US" sz="1100" dirty="0"/>
              <a:t>It means the amount of work one person can do in </a:t>
            </a:r>
            <a:r>
              <a:rPr lang="en-US" sz="1100" b="1" dirty="0"/>
              <a:t>1 month</a:t>
            </a:r>
            <a:r>
              <a:rPr lang="en-US" sz="1100" dirty="0"/>
              <a:t>.</a:t>
            </a:r>
          </a:p>
          <a:p>
            <a:r>
              <a:rPr lang="en-US" sz="1100" dirty="0"/>
              <a:t>Example: If a task takes 10 person-months, it could be done by:</a:t>
            </a:r>
          </a:p>
          <a:p>
            <a:pPr lvl="1"/>
            <a:r>
              <a:rPr lang="en-US" sz="1100" dirty="0"/>
              <a:t>1 person in 10 months</a:t>
            </a:r>
          </a:p>
          <a:p>
            <a:pPr lvl="1"/>
            <a:r>
              <a:rPr lang="en-US" sz="1100" dirty="0"/>
              <a:t>2 people in 5 months</a:t>
            </a:r>
          </a:p>
          <a:p>
            <a:pPr lvl="1"/>
            <a:r>
              <a:rPr lang="en-US" sz="1100" dirty="0"/>
              <a:t>10 people in 1 month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r>
              <a:rPr lang="en-IN" sz="1100" b="1" dirty="0"/>
              <a:t>Fred Brooks' Myth:</a:t>
            </a:r>
            <a:endParaRPr lang="en-IN" sz="1100" dirty="0"/>
          </a:p>
          <a:p>
            <a:r>
              <a:rPr lang="en-IN" sz="1100" dirty="0"/>
              <a:t>"Cost varies as a product of men and months, but progress does not."</a:t>
            </a:r>
          </a:p>
          <a:p>
            <a:r>
              <a:rPr lang="en-IN" sz="1100" dirty="0"/>
              <a:t>This means:</a:t>
            </a:r>
          </a:p>
          <a:p>
            <a:pPr lvl="0"/>
            <a:r>
              <a:rPr lang="en-IN" sz="1100" dirty="0"/>
              <a:t>Just because you add more people doesn’t mean work finishes faster.</a:t>
            </a:r>
          </a:p>
          <a:p>
            <a:pPr lvl="0"/>
            <a:r>
              <a:rPr lang="en-IN" sz="1100" dirty="0"/>
              <a:t>Sometimes, adding more people can actually slow things down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49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The Basis for Software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Why Adding People Doesn’t Always Help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You Can’t Always Divide Work Equally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Software work is often </a:t>
            </a:r>
            <a:r>
              <a:rPr lang="en-US" sz="1100" b="1" dirty="0"/>
              <a:t>not fully partitionable</a:t>
            </a:r>
            <a:r>
              <a:rPr lang="en-US" sz="11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Some parts need to be done in </a:t>
            </a:r>
            <a:r>
              <a:rPr lang="en-US" sz="1100" b="1" dirty="0"/>
              <a:t>sequence</a:t>
            </a:r>
            <a:r>
              <a:rPr lang="en-US" sz="1100" dirty="0"/>
              <a:t>, not in parallel.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EA255-65C2-47A6-B930-430D6061E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50" y="1128375"/>
            <a:ext cx="3455988" cy="20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2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Software Effort Estimation Techniques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877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Several methods to estimate software development effort are</a:t>
            </a:r>
          </a:p>
          <a:p>
            <a:r>
              <a:rPr lang="en-IN" sz="1100" b="1" dirty="0"/>
              <a:t>1. Algorithmic Models</a:t>
            </a:r>
            <a:endParaRPr lang="en-IN" sz="1100" dirty="0"/>
          </a:p>
          <a:p>
            <a:pPr lvl="0"/>
            <a:r>
              <a:rPr lang="en-IN" sz="1100" dirty="0"/>
              <a:t>Use mathematical formulas based on </a:t>
            </a:r>
            <a:r>
              <a:rPr lang="en-IN" sz="1100" b="1" dirty="0"/>
              <a:t>'effort drivers'</a:t>
            </a:r>
            <a:r>
              <a:rPr lang="en-IN" sz="1100" dirty="0"/>
              <a:t> (e.g., system size, complexity, team skill).</a:t>
            </a:r>
          </a:p>
          <a:p>
            <a:pPr lvl="0"/>
            <a:r>
              <a:rPr lang="en-IN" sz="1100" dirty="0"/>
              <a:t>Example: </a:t>
            </a:r>
            <a:r>
              <a:rPr lang="en-IN" sz="1100" b="1" dirty="0"/>
              <a:t>COCOMO</a:t>
            </a:r>
          </a:p>
          <a:p>
            <a:pPr lvl="0"/>
            <a:endParaRPr lang="en-US" sz="1100" b="1" dirty="0"/>
          </a:p>
          <a:p>
            <a:r>
              <a:rPr lang="en-IN" sz="1100" b="1" dirty="0"/>
              <a:t>2. Expert Judgement</a:t>
            </a:r>
            <a:endParaRPr lang="en-IN" sz="1100" dirty="0"/>
          </a:p>
          <a:p>
            <a:pPr lvl="0"/>
            <a:r>
              <a:rPr lang="en-IN" sz="1100" dirty="0"/>
              <a:t>You ask experienced professionals for their opinion based on similar past work.</a:t>
            </a:r>
          </a:p>
          <a:p>
            <a:pPr lvl="0"/>
            <a:r>
              <a:rPr lang="en-IN" sz="1100" dirty="0"/>
              <a:t>Works well when data is not available or the project is new.</a:t>
            </a:r>
          </a:p>
          <a:p>
            <a:pPr lvl="0"/>
            <a:endParaRPr lang="en-US" sz="1100" dirty="0"/>
          </a:p>
          <a:p>
            <a:r>
              <a:rPr lang="en-IN" sz="1100" b="1" dirty="0"/>
              <a:t>3. Analogy</a:t>
            </a:r>
            <a:endParaRPr lang="en-IN" sz="1100" dirty="0"/>
          </a:p>
          <a:p>
            <a:pPr lvl="0"/>
            <a:r>
              <a:rPr lang="en-IN" sz="1100" dirty="0"/>
              <a:t>You compare with a similar past project and use that as a benchmark.</a:t>
            </a:r>
          </a:p>
          <a:p>
            <a:pPr lvl="0"/>
            <a:r>
              <a:rPr lang="en-IN" sz="1100" dirty="0"/>
              <a:t>Example: "This payroll module is similar to the HR module we did last year."</a:t>
            </a:r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98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Software Effort Estimation Techniques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4. Parkinson’s Law</a:t>
            </a:r>
            <a:endParaRPr lang="en-IN" sz="1100" dirty="0"/>
          </a:p>
          <a:p>
            <a:pPr lvl="0"/>
            <a:r>
              <a:rPr lang="en-IN" sz="1100" dirty="0"/>
              <a:t>Based on the belief that work takes up all the time given to it.</a:t>
            </a:r>
          </a:p>
          <a:p>
            <a:pPr lvl="0"/>
            <a:r>
              <a:rPr lang="en-IN" sz="1100" dirty="0"/>
              <a:t>Not a real estimation method, just a way to </a:t>
            </a:r>
            <a:r>
              <a:rPr lang="en-IN" sz="1100" b="1" dirty="0"/>
              <a:t>allocate time</a:t>
            </a:r>
            <a:r>
              <a:rPr lang="en-IN" sz="1100" dirty="0"/>
              <a:t>.</a:t>
            </a:r>
          </a:p>
          <a:p>
            <a:pPr lvl="0"/>
            <a:endParaRPr lang="en-US" sz="1100" b="1" dirty="0"/>
          </a:p>
          <a:p>
            <a:r>
              <a:rPr lang="en-IN" sz="1100" b="1" dirty="0"/>
              <a:t>5. Price to Win</a:t>
            </a:r>
            <a:endParaRPr lang="en-IN" sz="1100" dirty="0"/>
          </a:p>
          <a:p>
            <a:pPr lvl="0"/>
            <a:r>
              <a:rPr lang="en-IN" sz="1100" dirty="0"/>
              <a:t>You choose an estimate that </a:t>
            </a:r>
            <a:r>
              <a:rPr lang="en-IN" sz="1100" b="1" dirty="0"/>
              <a:t>satisfies the client or helps win a contract</a:t>
            </a:r>
            <a:r>
              <a:rPr lang="en-IN" sz="1100" dirty="0"/>
              <a:t>.</a:t>
            </a:r>
          </a:p>
          <a:p>
            <a:pPr lvl="0"/>
            <a:r>
              <a:rPr lang="en-IN" sz="1100" dirty="0"/>
              <a:t>Not based on real effort — more of a </a:t>
            </a:r>
            <a:r>
              <a:rPr lang="en-IN" sz="1100" b="1" dirty="0"/>
              <a:t>business strategy</a:t>
            </a:r>
            <a:r>
              <a:rPr lang="en-IN" sz="1100" dirty="0"/>
              <a:t> than estimation.</a:t>
            </a:r>
          </a:p>
          <a:p>
            <a:pPr lvl="0"/>
            <a:endParaRPr lang="en-US" sz="1100" dirty="0"/>
          </a:p>
          <a:p>
            <a:r>
              <a:rPr lang="en-IN" sz="1100" b="1" dirty="0"/>
              <a:t>6. Top-down Estimating</a:t>
            </a:r>
            <a:endParaRPr lang="en-IN" sz="1100" dirty="0"/>
          </a:p>
          <a:p>
            <a:pPr lvl="0"/>
            <a:r>
              <a:rPr lang="en-IN" sz="1100" dirty="0"/>
              <a:t>Start with a </a:t>
            </a:r>
            <a:r>
              <a:rPr lang="en-IN" sz="1100" b="1" dirty="0"/>
              <a:t>whole project estimate</a:t>
            </a:r>
            <a:r>
              <a:rPr lang="en-IN" sz="1100" dirty="0"/>
              <a:t>, then break it into sub-tasks.</a:t>
            </a:r>
          </a:p>
          <a:p>
            <a:pPr lvl="0"/>
            <a:r>
              <a:rPr lang="en-IN" sz="1100" dirty="0"/>
              <a:t>Good for early stages of a project when not many details are known.</a:t>
            </a:r>
          </a:p>
          <a:p>
            <a:pPr lvl="0"/>
            <a:endParaRPr lang="en-US" sz="1100" dirty="0"/>
          </a:p>
          <a:p>
            <a:r>
              <a:rPr lang="en-IN" sz="1100" b="1" dirty="0"/>
              <a:t>7. Bottom-up Estimating</a:t>
            </a:r>
            <a:endParaRPr lang="en-IN" sz="1100" dirty="0"/>
          </a:p>
          <a:p>
            <a:pPr lvl="0"/>
            <a:r>
              <a:rPr lang="en-IN" sz="1100" dirty="0"/>
              <a:t>Start by estimating </a:t>
            </a:r>
            <a:r>
              <a:rPr lang="en-IN" sz="1100" b="1" dirty="0"/>
              <a:t>individual tasks</a:t>
            </a:r>
            <a:r>
              <a:rPr lang="en-IN" sz="1100" dirty="0"/>
              <a:t> and then </a:t>
            </a:r>
            <a:r>
              <a:rPr lang="en-IN" sz="1100" b="1" dirty="0"/>
              <a:t>sum them</a:t>
            </a:r>
            <a:r>
              <a:rPr lang="en-IN" sz="1100" dirty="0"/>
              <a:t> for the total effort.</a:t>
            </a:r>
          </a:p>
          <a:p>
            <a:pPr lvl="0"/>
            <a:r>
              <a:rPr lang="en-IN" sz="1100" dirty="0"/>
              <a:t>More accurate, but requires detailed knowledge of each task.</a:t>
            </a:r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32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Bottom-up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Number and type of software modules in the final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Estimate the SLOC of each identified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Estimate the work content, taking into account complexity and technical difficulty.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Calculate the work-days effort</a:t>
            </a:r>
            <a:endParaRPr lang="en-IN" sz="1100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39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Top-Down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IN" dirty="0"/>
              <a:t>·  </a:t>
            </a:r>
            <a:r>
              <a:rPr lang="en-IN" sz="1100" dirty="0"/>
              <a:t>In this method, you first estimate the total effort for the entire project, then break it down into smaller parts or tasks.</a:t>
            </a:r>
          </a:p>
          <a:p>
            <a:pPr algn="just"/>
            <a:r>
              <a:rPr lang="en-IN" sz="1100" dirty="0"/>
              <a:t>·  It is usually used early in the project, when the full details are not yet known.</a:t>
            </a:r>
          </a:p>
          <a:p>
            <a:pPr algn="just"/>
            <a:r>
              <a:rPr lang="en-IN" sz="1100" dirty="0"/>
              <a:t>·  Based on past experience, project size, and type, the overall time and cost are guessed, then distributed to different phases like design, coding, and testing.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Parametric models are mathematical models that calculate effort based on input parameters.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r>
              <a:rPr lang="en-IN" sz="1100" b="1" dirty="0"/>
              <a:t>General Formula:</a:t>
            </a:r>
          </a:p>
          <a:p>
            <a:r>
              <a:rPr lang="en-IN" sz="1100" dirty="0"/>
              <a:t>Effort = System Size × Productivity Rate</a:t>
            </a:r>
          </a:p>
          <a:p>
            <a:endParaRPr lang="en-IN" sz="1100" b="1" dirty="0"/>
          </a:p>
          <a:p>
            <a:r>
              <a:rPr lang="en-IN" sz="1100" b="1" dirty="0"/>
              <a:t>Parameters might include:</a:t>
            </a:r>
          </a:p>
          <a:p>
            <a:r>
              <a:rPr lang="en-IN" sz="1100" b="1" dirty="0"/>
              <a:t>System size</a:t>
            </a:r>
            <a:r>
              <a:rPr lang="en-IN" sz="1100" dirty="0"/>
              <a:t> (like KLOC — thousand lines of code)</a:t>
            </a:r>
          </a:p>
          <a:p>
            <a:r>
              <a:rPr lang="en-IN" sz="1100" b="1" dirty="0"/>
              <a:t>Productivity</a:t>
            </a:r>
            <a:r>
              <a:rPr lang="en-IN" sz="1100" dirty="0"/>
              <a:t> (e.g., 40 workdays per KLOC)</a:t>
            </a:r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878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Top-Down Estimating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Let’s say the estimates:</a:t>
            </a:r>
          </a:p>
          <a:p>
            <a:r>
              <a:rPr lang="en-US" sz="1100" dirty="0"/>
              <a:t>Module size = 2 KLOC (2000 lines of code)</a:t>
            </a:r>
          </a:p>
          <a:p>
            <a:r>
              <a:rPr lang="en-US" sz="1100" b="1" dirty="0"/>
              <a:t>Two developers:</a:t>
            </a:r>
          </a:p>
          <a:p>
            <a:r>
              <a:rPr lang="en-US" sz="1100" b="1" dirty="0"/>
              <a:t>A</a:t>
            </a:r>
            <a:r>
              <a:rPr lang="en-US" sz="1100" dirty="0"/>
              <a:t> (Experienced):</a:t>
            </a:r>
          </a:p>
          <a:p>
            <a:pPr lvl="1"/>
            <a:r>
              <a:rPr lang="en-US" sz="1100" dirty="0"/>
              <a:t>Productivity = 40 days/KLOC</a:t>
            </a:r>
          </a:p>
          <a:p>
            <a:pPr lvl="1"/>
            <a:r>
              <a:rPr lang="en-US" sz="1100" dirty="0"/>
              <a:t>Effort = 2 × 40 = 80 days</a:t>
            </a:r>
          </a:p>
          <a:p>
            <a:r>
              <a:rPr lang="en-US" sz="1100" b="1" dirty="0"/>
              <a:t>B</a:t>
            </a:r>
            <a:r>
              <a:rPr lang="en-US" sz="1100" dirty="0"/>
              <a:t> (Less experienced):</a:t>
            </a:r>
          </a:p>
          <a:p>
            <a:pPr lvl="1"/>
            <a:r>
              <a:rPr lang="en-US" sz="1100" dirty="0"/>
              <a:t>Productivity = 55 days/KLOC</a:t>
            </a:r>
          </a:p>
          <a:p>
            <a:pPr lvl="1"/>
            <a:r>
              <a:rPr lang="en-US" sz="1100" dirty="0"/>
              <a:t>Effort = 2 × 55 = 110 days</a:t>
            </a:r>
          </a:p>
          <a:p>
            <a:pPr lvl="1"/>
            <a:endParaRPr lang="en-US" sz="1100" dirty="0"/>
          </a:p>
          <a:p>
            <a:r>
              <a:rPr lang="en-US" sz="1100" dirty="0"/>
              <a:t>This shows how the </a:t>
            </a:r>
            <a:r>
              <a:rPr lang="en-US" sz="1100" b="1" dirty="0"/>
              <a:t>person’s skill affects effort</a:t>
            </a:r>
            <a:r>
              <a:rPr lang="en-US" sz="1100" dirty="0"/>
              <a:t>, even with same code size.</a:t>
            </a:r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234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Expert Judgement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800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dirty="0"/>
              <a:t>·  </a:t>
            </a:r>
            <a:r>
              <a:rPr lang="en-IN" sz="1100" b="1" dirty="0"/>
              <a:t>Expert Judgement</a:t>
            </a:r>
            <a:r>
              <a:rPr lang="en-IN" sz="1100" dirty="0"/>
              <a:t> means asking someone with </a:t>
            </a:r>
            <a:r>
              <a:rPr lang="en-IN" sz="1100" b="1" dirty="0"/>
              <a:t>experience or deep knowledge</a:t>
            </a:r>
            <a:r>
              <a:rPr lang="en-IN" sz="1100" dirty="0"/>
              <a:t> (an expert) to estimate the effort needed for a task.</a:t>
            </a:r>
          </a:p>
          <a:p>
            <a:r>
              <a:rPr lang="en-IN" sz="1100" dirty="0"/>
              <a:t>·  It’s useful when:</a:t>
            </a:r>
          </a:p>
          <a:p>
            <a:pPr lvl="0"/>
            <a:r>
              <a:rPr lang="en-IN" sz="1100" dirty="0"/>
              <a:t>The project is </a:t>
            </a:r>
            <a:r>
              <a:rPr lang="en-IN" sz="1100" b="1" dirty="0"/>
              <a:t>new or complex</a:t>
            </a:r>
            <a:endParaRPr lang="en-IN" sz="1100" dirty="0"/>
          </a:p>
          <a:p>
            <a:pPr lvl="0"/>
            <a:r>
              <a:rPr lang="en-IN" sz="1100" dirty="0"/>
              <a:t>There’s </a:t>
            </a:r>
            <a:r>
              <a:rPr lang="en-IN" sz="1100" b="1" dirty="0"/>
              <a:t>no historical data</a:t>
            </a:r>
            <a:endParaRPr lang="en-IN" sz="1100" dirty="0"/>
          </a:p>
          <a:p>
            <a:pPr lvl="0"/>
            <a:r>
              <a:rPr lang="en-IN" sz="1100" dirty="0"/>
              <a:t>Or when </a:t>
            </a:r>
            <a:r>
              <a:rPr lang="en-IN" sz="1100" b="1" dirty="0"/>
              <a:t>specific technical knowledge</a:t>
            </a:r>
            <a:r>
              <a:rPr lang="en-IN" sz="1100" dirty="0"/>
              <a:t> is needed</a:t>
            </a:r>
          </a:p>
          <a:p>
            <a:r>
              <a:rPr lang="en-IN" dirty="0"/>
              <a:t> </a:t>
            </a:r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259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Estimating by Analogy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467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We compare the current project (called the target) with a similar past project (called the source).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Then use the effort data from the past project to estimate the effort for the new one.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Find a similar project (same number of inputs, outputs, users, size, etc.)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Measure the difference between the source and the target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Adjust the past estimate based on those differences</a:t>
            </a:r>
          </a:p>
          <a:p>
            <a:r>
              <a:rPr lang="en-IN" dirty="0"/>
              <a:t> </a:t>
            </a:r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781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Estimating by Analogy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IN" dirty="0"/>
              <a:t> </a:t>
            </a:r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14C89-8D22-453F-8F7B-F68399130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114"/>
            <a:ext cx="4608513" cy="228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7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Function </a:t>
            </a:r>
            <a:r>
              <a:rPr lang="en-US" sz="1400">
                <a:solidFill>
                  <a:schemeClr val="bg1"/>
                </a:solidFill>
              </a:rPr>
              <a:t>Point Analysis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9082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 </a:t>
            </a:r>
            <a:r>
              <a:rPr lang="en-US" sz="1100" dirty="0"/>
              <a:t>FPA is a top-down estimation technique developed by Allan Albrecht at IBM.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helps estimate software size and effort by measuring its functionality — not lines of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is independent of programming language.</a:t>
            </a:r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636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Components in Function Point Counting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51881-385A-4814-9E58-BBE9581CA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6" y="849060"/>
            <a:ext cx="4161320" cy="199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90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Step-by-step FPA process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30931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b="1" dirty="0"/>
              <a:t>Step 1: Identify Each External User Type</a:t>
            </a:r>
          </a:p>
          <a:p>
            <a:r>
              <a:rPr lang="en-US" sz="1100" dirty="0"/>
              <a:t>Count how many inputs, outputs, files, inquiries the system has.</a:t>
            </a:r>
          </a:p>
          <a:p>
            <a:endParaRPr lang="en-US" sz="1100" dirty="0"/>
          </a:p>
          <a:p>
            <a:r>
              <a:rPr lang="en-US" sz="1100" b="1" dirty="0"/>
              <a:t>Step 2: Classify Each One by Complexity</a:t>
            </a:r>
          </a:p>
          <a:p>
            <a:r>
              <a:rPr lang="en-US" sz="1100" dirty="0"/>
              <a:t>Each function is classified as Low, Average, or High complexity.</a:t>
            </a:r>
          </a:p>
          <a:p>
            <a:r>
              <a:rPr lang="en-US" sz="1100" dirty="0"/>
              <a:t>Complexity is based on:</a:t>
            </a:r>
          </a:p>
          <a:p>
            <a:pPr lvl="1"/>
            <a:r>
              <a:rPr lang="en-US" sz="1100" dirty="0"/>
              <a:t>Number of file types accessed</a:t>
            </a:r>
          </a:p>
          <a:p>
            <a:pPr lvl="1"/>
            <a:r>
              <a:rPr lang="en-US" sz="1100" dirty="0"/>
              <a:t>Number of data types used</a:t>
            </a:r>
          </a:p>
          <a:p>
            <a:pPr lvl="1"/>
            <a:r>
              <a:rPr lang="en-US" sz="1100" dirty="0"/>
              <a:t>Record types and file references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5432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Step-by-step FPA process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6FA2D-A946-4039-96F6-9CCBAA39A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31" y="787223"/>
            <a:ext cx="4464525" cy="15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2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Problem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E3DC2-AE6F-4089-B4AF-4B45ABAB9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230"/>
            <a:ext cx="4608513" cy="180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6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Solution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4003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9412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Step-by-step FPA process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02C3D-33FB-4B55-9B3E-62A972E25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0480"/>
            <a:ext cx="4608513" cy="12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66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0B560-7E88-4A56-B22F-5F75FB39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9" y="524502"/>
            <a:ext cx="4608513" cy="264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14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 Mark - II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FP-II was introduced to make effort estimation more structured, data-driven, and easy to apply to real-world systems. It emphasizes consistency, objectivity, and automation — especially useful in environments like government IT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Function Points Mark II is a refined version of the original Albrecht Function Point Analysis. It was developed and recommended by the UK (now part of the UK government’s standards for software projects).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improves Albrecht’s model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Focusing more clearly on </a:t>
            </a:r>
            <a:r>
              <a:rPr lang="en-US" sz="1100" b="1" dirty="0"/>
              <a:t>logical transactions</a:t>
            </a:r>
            <a:r>
              <a:rPr lang="en-US" sz="1100" dirty="0"/>
              <a:t> (input → process → output)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Assigning </a:t>
            </a:r>
            <a:r>
              <a:rPr lang="en-US" sz="1100" b="1" dirty="0"/>
              <a:t>weights</a:t>
            </a:r>
            <a:r>
              <a:rPr lang="en-US" sz="1100" dirty="0"/>
              <a:t> to different elements based on industry norms or company experience</a:t>
            </a:r>
          </a:p>
          <a:p>
            <a:endParaRPr lang="en-IN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111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 Mark - II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467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UFP = (Wi × # input data elements) + (We × # entity types) + (Wo × # output data elements)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Industry standard weights (from 1999)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Wi = </a:t>
            </a:r>
            <a:r>
              <a:rPr lang="en-US" sz="1100" b="1" dirty="0"/>
              <a:t>0.58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We = </a:t>
            </a:r>
            <a:r>
              <a:rPr lang="en-US" sz="1100" b="1" dirty="0"/>
              <a:t>1.66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Wo = </a:t>
            </a:r>
            <a:r>
              <a:rPr lang="en-US" sz="1100" b="1" dirty="0"/>
              <a:t>0.26</a:t>
            </a:r>
            <a:endParaRPr lang="en-US" sz="1100" dirty="0"/>
          </a:p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1527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 Mark - II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91B0D-710B-424D-8CCE-1FDC28AC5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359"/>
            <a:ext cx="4608513" cy="217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17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 Mark - II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42EA9-1A03-4F4A-8FC5-9A5727240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" y="422552"/>
            <a:ext cx="4608513" cy="27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562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Point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 Like Function Point Analysis, </a:t>
            </a:r>
            <a:r>
              <a:rPr lang="en-US" sz="1100" b="1" dirty="0"/>
              <a:t>Object Points</a:t>
            </a:r>
            <a:r>
              <a:rPr lang="en-US" sz="1100" dirty="0"/>
              <a:t> is another technique to estimate the size and, consequently, the effort required to build a software application. While Function Points focus on the </a:t>
            </a:r>
            <a:r>
              <a:rPr lang="en-US" sz="1100" i="1" dirty="0"/>
              <a:t>functions</a:t>
            </a:r>
            <a:r>
              <a:rPr lang="en-US" sz="1100" dirty="0"/>
              <a:t> a system performs, Object Points zoom in on the </a:t>
            </a:r>
            <a:r>
              <a:rPr lang="en-US" sz="1100" i="1" dirty="0"/>
              <a:t>components</a:t>
            </a:r>
            <a:r>
              <a:rPr lang="en-US" sz="1100" dirty="0"/>
              <a:t> that users typically interact with.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Object Points measure the size of a software application by counting and categorizing the number of </a:t>
            </a:r>
            <a:r>
              <a:rPr lang="en-US" sz="1100" b="1" dirty="0"/>
              <a:t>screens</a:t>
            </a:r>
            <a:r>
              <a:rPr lang="en-US" sz="1100" dirty="0"/>
              <a:t>, </a:t>
            </a:r>
            <a:r>
              <a:rPr lang="en-US" sz="1100" b="1" dirty="0"/>
              <a:t>reports</a:t>
            </a:r>
            <a:r>
              <a:rPr lang="en-US" sz="1100" dirty="0"/>
              <a:t>, and </a:t>
            </a:r>
            <a:r>
              <a:rPr lang="en-US" sz="1100" b="1" dirty="0"/>
              <a:t>3GL components</a:t>
            </a:r>
            <a:r>
              <a:rPr lang="en-US" sz="1100" dirty="0"/>
              <a:t> it contains. It's a way to quantify the parts of the software that the user sees or directly uses.</a:t>
            </a:r>
            <a:endParaRPr lang="en-IN" sz="1100" dirty="0"/>
          </a:p>
          <a:p>
            <a:pPr lvl="0"/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0309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Objects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100" dirty="0"/>
              <a:t> </a:t>
            </a:r>
            <a:r>
              <a:rPr lang="en-IN" sz="1100" dirty="0"/>
              <a:t>·  </a:t>
            </a:r>
            <a:r>
              <a:rPr lang="en-IN" sz="1100" b="1" dirty="0"/>
              <a:t>Screens:</a:t>
            </a:r>
            <a:r>
              <a:rPr lang="en-IN" sz="1100" dirty="0"/>
              <a:t> These are the interactive displays or forms that users see and interact with to input data or view information.</a:t>
            </a:r>
          </a:p>
          <a:p>
            <a:pPr algn="just"/>
            <a:endParaRPr lang="en-IN" sz="1100" dirty="0"/>
          </a:p>
          <a:p>
            <a:pPr algn="just"/>
            <a:r>
              <a:rPr lang="en-IN" sz="1100" dirty="0"/>
              <a:t>·  </a:t>
            </a:r>
            <a:r>
              <a:rPr lang="en-IN" sz="1100" b="1" dirty="0"/>
              <a:t>Reports:</a:t>
            </a:r>
            <a:r>
              <a:rPr lang="en-IN" sz="1100" dirty="0"/>
              <a:t> These are documents or displays generated by the system, typically for presenting summarized or detailed information.</a:t>
            </a:r>
          </a:p>
          <a:p>
            <a:pPr algn="just"/>
            <a:endParaRPr lang="en-IN" sz="1100" dirty="0"/>
          </a:p>
          <a:p>
            <a:pPr algn="just"/>
            <a:r>
              <a:rPr lang="en-IN" sz="1100" dirty="0"/>
              <a:t>·  </a:t>
            </a:r>
            <a:r>
              <a:rPr lang="en-IN" sz="1100" b="1" dirty="0"/>
              <a:t>3GL Components:</a:t>
            </a:r>
            <a:r>
              <a:rPr lang="en-IN" sz="1100" dirty="0"/>
              <a:t> These refer to code components written in a Third-Generation Language (like Java, C++, Python, etc.) that perform specific tasks and are part of the application's functionality, but might not be a direct screen or report. They represent more complex, custom logic.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pPr lvl="0"/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5302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Identify and Count Components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Determine Complexity for Screens and Reports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Apply Complexity Weightings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Calculate Overall Score</a:t>
            </a:r>
          </a:p>
          <a:p>
            <a:pPr lvl="0"/>
            <a:endParaRPr lang="en-US" sz="1100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2035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endParaRPr lang="en-US" sz="1100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4CE13-2913-4388-9613-7459DEC8D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2" y="402626"/>
            <a:ext cx="3890767" cy="289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54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endParaRPr lang="en-IN" sz="1100" dirty="0"/>
          </a:p>
          <a:p>
            <a:pPr lvl="0"/>
            <a:endParaRPr lang="en-US" sz="1100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8F0D5C-31B1-4180-B410-D3C943438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" y="966651"/>
            <a:ext cx="4431695" cy="14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66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Number of views contained" (for Screens - Table 5.6)</a:t>
            </a:r>
          </a:p>
          <a:p>
            <a:r>
              <a:rPr lang="en-US" sz="1100" b="1" dirty="0"/>
              <a:t>What it means:</a:t>
            </a:r>
            <a:r>
              <a:rPr lang="en-US" sz="1100" dirty="0"/>
              <a:t> For a screen, a "view" refers to a distinct way of presenting or interacting with the information on that screen. </a:t>
            </a:r>
            <a:r>
              <a:rPr lang="en-US" sz="1100" b="1" dirty="0"/>
              <a:t>Intuition/Example:</a:t>
            </a:r>
            <a:endParaRPr lang="en-US" sz="1100" dirty="0"/>
          </a:p>
          <a:p>
            <a:pPr lvl="1"/>
            <a:r>
              <a:rPr lang="en-US" sz="1100" b="1" dirty="0"/>
              <a:t>Simple Screen (e.g., "Number of views contained &lt; 3"):</a:t>
            </a:r>
            <a:r>
              <a:rPr lang="en-US" sz="1100" dirty="0"/>
              <a:t> Imagine a basic login screen. It usually has fields for username and password, and a login button. There's only one way to "view" or interact with it. This would have a low number of views.</a:t>
            </a:r>
          </a:p>
          <a:p>
            <a:pPr lvl="0"/>
            <a:endParaRPr lang="en-US" sz="1100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5419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/>
            <a:r>
              <a:rPr lang="en-US" sz="1100" b="1" dirty="0"/>
              <a:t>Medium/Difficult Screen (e.g., "Number of views contained &gt; 7"):</a:t>
            </a:r>
            <a:r>
              <a:rPr lang="en-US" sz="1100" dirty="0"/>
              <a:t> Now, think of a complex customer management screen in a bank. It might have:</a:t>
            </a:r>
          </a:p>
          <a:p>
            <a:pPr lvl="2"/>
            <a:r>
              <a:rPr lang="en-US" sz="1100" dirty="0"/>
              <a:t>A tab for "Customer Details".</a:t>
            </a:r>
          </a:p>
          <a:p>
            <a:pPr lvl="2"/>
            <a:r>
              <a:rPr lang="en-US" sz="1100" dirty="0"/>
              <a:t>Another tab for "Account History".</a:t>
            </a:r>
          </a:p>
          <a:p>
            <a:pPr lvl="2"/>
            <a:r>
              <a:rPr lang="en-US" sz="1100" dirty="0"/>
              <a:t>A third section for "Pending Transactions".</a:t>
            </a:r>
          </a:p>
          <a:p>
            <a:pPr lvl="2"/>
            <a:r>
              <a:rPr lang="en-US" sz="1100" dirty="0"/>
              <a:t>A fourth area for "Contact Information" that you can click to expand.</a:t>
            </a:r>
          </a:p>
          <a:p>
            <a:pPr lvl="2"/>
            <a:r>
              <a:rPr lang="en-US" sz="1100" dirty="0"/>
              <a:t>Each of these distinct areas or tabs could be considered a "view" because it shows a different aspect of the data or offers different interactions. The more such distinct views within one logical screen, the more complex it is to design and build.</a:t>
            </a:r>
          </a:p>
          <a:p>
            <a:pPr lvl="0"/>
            <a:endParaRPr lang="en-US" sz="1100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0942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dirty="0"/>
              <a:t>Some components might </a:t>
            </a:r>
            <a:r>
              <a:rPr lang="en-IN" sz="1100" b="1" dirty="0"/>
              <a:t>already exist</a:t>
            </a:r>
            <a:r>
              <a:rPr lang="en-IN" sz="1100" dirty="0"/>
              <a:t> (e.g., standard login form, reusable report template) and don’t need to be redeveloped.</a:t>
            </a:r>
          </a:p>
          <a:p>
            <a:endParaRPr lang="en-IN" sz="1100" dirty="0"/>
          </a:p>
          <a:p>
            <a:r>
              <a:rPr lang="en-IN" sz="1100" dirty="0"/>
              <a:t>	New Object Points (NOP)=OP×(100−reuse%)/100</a:t>
            </a:r>
          </a:p>
          <a:p>
            <a:endParaRPr lang="en-US" sz="1100" b="1" dirty="0"/>
          </a:p>
          <a:p>
            <a:pPr lvl="2"/>
            <a:r>
              <a:rPr lang="en-IN" sz="1100" dirty="0"/>
              <a:t>Effort (in person-months)=NOP​/PROD</a:t>
            </a:r>
            <a:endParaRPr lang="en-US" sz="1100" b="1" dirty="0"/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50B957-BC21-40AD-92C6-30EB599C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7" y="1879159"/>
            <a:ext cx="4312118" cy="103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20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COCOMO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COCOMO stands for </a:t>
            </a:r>
            <a:r>
              <a:rPr lang="en-US" sz="1100" dirty="0" err="1"/>
              <a:t>COnstructive</a:t>
            </a:r>
            <a:r>
              <a:rPr lang="en-US" sz="1100" dirty="0"/>
              <a:t> </a:t>
            </a:r>
            <a:r>
              <a:rPr lang="en-US" sz="1100" dirty="0" err="1"/>
              <a:t>COst</a:t>
            </a:r>
            <a:r>
              <a:rPr lang="en-US" sz="1100" dirty="0"/>
              <a:t> Model</a:t>
            </a:r>
          </a:p>
          <a:p>
            <a:r>
              <a:rPr lang="en-US" sz="1100" dirty="0"/>
              <a:t>The basic effort equation is:</a:t>
            </a:r>
          </a:p>
          <a:p>
            <a:endParaRPr lang="en-US" sz="1100" dirty="0"/>
          </a:p>
          <a:p>
            <a:r>
              <a:rPr lang="en-US" sz="1100" dirty="0"/>
              <a:t>	Effort=c×(Size)^k </a:t>
            </a:r>
          </a:p>
          <a:p>
            <a:endParaRPr lang="en-US" sz="1100" dirty="0"/>
          </a:p>
          <a:p>
            <a:r>
              <a:rPr lang="en-US" sz="1100" dirty="0"/>
              <a:t>Where:</a:t>
            </a:r>
          </a:p>
          <a:p>
            <a:r>
              <a:rPr lang="en-US" sz="1100" b="1" dirty="0"/>
              <a:t>Effort</a:t>
            </a:r>
            <a:r>
              <a:rPr lang="en-US" sz="1100" dirty="0"/>
              <a:t> is in person-months,</a:t>
            </a:r>
          </a:p>
          <a:p>
            <a:r>
              <a:rPr lang="en-US" sz="1100" b="1" dirty="0"/>
              <a:t>Size</a:t>
            </a:r>
            <a:r>
              <a:rPr lang="en-US" sz="1100" dirty="0"/>
              <a:t> is in </a:t>
            </a:r>
            <a:r>
              <a:rPr lang="en-US" sz="1100" b="1" dirty="0"/>
              <a:t>KDSI</a:t>
            </a:r>
            <a:r>
              <a:rPr lang="en-US" sz="1100" dirty="0"/>
              <a:t> (thousands of Delivered Source Instructions),</a:t>
            </a:r>
          </a:p>
          <a:p>
            <a:r>
              <a:rPr lang="en-US" sz="1100" b="1" dirty="0"/>
              <a:t>c</a:t>
            </a:r>
            <a:r>
              <a:rPr lang="en-US" sz="1100" dirty="0"/>
              <a:t> and </a:t>
            </a:r>
            <a:r>
              <a:rPr lang="en-US" sz="1100" b="1" dirty="0"/>
              <a:t>k</a:t>
            </a:r>
            <a:r>
              <a:rPr lang="en-US" sz="1100" dirty="0"/>
              <a:t> are constants based on the project type (from Table 5.10).</a:t>
            </a:r>
          </a:p>
          <a:p>
            <a:r>
              <a:rPr lang="en-US" sz="1100" dirty="0"/>
              <a:t>.</a:t>
            </a:r>
            <a:endParaRPr lang="en-IN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B981B-D136-486A-8801-1D6A675D7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66" y="2075271"/>
            <a:ext cx="2916763" cy="106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45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Organic Mode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Small, simple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Developed by a small team that has strong experience.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Done in a familiar environment with few uncertainties.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software has flexible requirements, meaning not a lot of change is expected later.</a:t>
            </a:r>
          </a:p>
          <a:p>
            <a:pPr lvl="0"/>
            <a:endParaRPr lang="en-US" sz="1100" dirty="0"/>
          </a:p>
          <a:p>
            <a:r>
              <a:rPr lang="en-US" sz="1100" b="1" dirty="0"/>
              <a:t>Embedded Mode</a:t>
            </a:r>
          </a:p>
          <a:p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Real-time systems or mission-critical software.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Must meet strict requirements (e.g., safety, timing, hardware limits).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Very little flexibility — changes are costly and difficult.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Usually requires deep testing and validation.</a:t>
            </a:r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7977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Semi-detached Mode</a:t>
            </a:r>
          </a:p>
          <a:p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medium-complexity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Team may be partially experienced, or the project is partially familiar.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Combines aspects of both Organic and Embedded modes.</a:t>
            </a:r>
          </a:p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5498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Object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431635"/>
            <a:ext cx="443169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100" b="1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FA12ED-A01A-40AF-B36B-2048D11ED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" y="431635"/>
            <a:ext cx="4389120" cy="78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56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20404</TotalTime>
  <Words>2583</Words>
  <Application>Microsoft Office PowerPoint</Application>
  <PresentationFormat>Custom</PresentationFormat>
  <Paragraphs>476</Paragraphs>
  <Slides>48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宋体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841</cp:revision>
  <dcterms:created xsi:type="dcterms:W3CDTF">2011-01-21T15:00:27Z</dcterms:created>
  <dcterms:modified xsi:type="dcterms:W3CDTF">2025-07-16T05:26:43Z</dcterms:modified>
</cp:coreProperties>
</file>