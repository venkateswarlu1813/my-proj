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sldIdLst>
    <p:sldId id="344" r:id="rId2"/>
    <p:sldId id="606" r:id="rId3"/>
    <p:sldId id="630" r:id="rId4"/>
    <p:sldId id="686" r:id="rId5"/>
    <p:sldId id="677" r:id="rId6"/>
    <p:sldId id="679" r:id="rId7"/>
    <p:sldId id="680" r:id="rId8"/>
    <p:sldId id="681" r:id="rId9"/>
    <p:sldId id="632" r:id="rId10"/>
    <p:sldId id="682" r:id="rId11"/>
    <p:sldId id="683" r:id="rId12"/>
    <p:sldId id="684" r:id="rId13"/>
    <p:sldId id="685" r:id="rId14"/>
  </p:sldIdLst>
  <p:sldSz cx="4608513" cy="3455988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T AP" initials="NA" lastIdx="1" clrIdx="0">
    <p:extLst>
      <p:ext uri="{19B8F6BF-5375-455C-9EA6-DF929625EA0E}">
        <p15:presenceInfo xmlns:p15="http://schemas.microsoft.com/office/powerpoint/2012/main" userId="NIT A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646B9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 snapToObjects="1">
      <p:cViewPr varScale="1">
        <p:scale>
          <a:sx n="125" d="100"/>
          <a:sy n="125" d="100"/>
        </p:scale>
        <p:origin x="312" y="7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DB7802-094E-4307-A812-AC720EB39FB3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AA1D91-3FC5-4706-942A-2EB178407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065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419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76640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065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2333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84401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46931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36616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03507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97954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78989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82146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0924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1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1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66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3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67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34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01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6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35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4F96-94B7-463C-9FD0-A63BBE3D5E91}" type="datetime1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997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86B5-C70E-44B5-AD82-94D4AFCC796C}" type="datetime1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668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4" y="4406901"/>
            <a:ext cx="7772400" cy="1362075"/>
          </a:xfrm>
        </p:spPr>
        <p:txBody>
          <a:bodyPr anchor="t"/>
          <a:lstStyle>
            <a:lvl1pPr algn="l">
              <a:defRPr sz="399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4" y="2906714"/>
            <a:ext cx="7772400" cy="1500187"/>
          </a:xfrm>
        </p:spPr>
        <p:txBody>
          <a:bodyPr anchor="b"/>
          <a:lstStyle>
            <a:lvl1pPr marL="0" indent="0">
              <a:buNone/>
              <a:defRPr sz="1998">
                <a:solidFill>
                  <a:schemeClr val="tx1">
                    <a:tint val="75000"/>
                  </a:schemeClr>
                </a:solidFill>
              </a:defRPr>
            </a:lvl1pPr>
            <a:lvl2pPr marL="456697" indent="0">
              <a:buNone/>
              <a:defRPr sz="1798">
                <a:solidFill>
                  <a:schemeClr val="tx1">
                    <a:tint val="75000"/>
                  </a:schemeClr>
                </a:solidFill>
              </a:defRPr>
            </a:lvl2pPr>
            <a:lvl3pPr marL="913393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3pPr>
            <a:lvl4pPr marL="1370090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4pPr>
            <a:lvl5pPr marL="1826788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5pPr>
            <a:lvl6pPr marL="2283485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6pPr>
            <a:lvl7pPr marL="2740181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7pPr>
            <a:lvl8pPr marL="3196878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8pPr>
            <a:lvl9pPr marL="3653575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5DC4F-0DC8-4D33-B19A-B6FAFD3868A6}" type="datetime1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540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797"/>
            </a:lvl1pPr>
            <a:lvl2pPr>
              <a:defRPr sz="2398"/>
            </a:lvl2pPr>
            <a:lvl3pPr>
              <a:defRPr sz="1998"/>
            </a:lvl3pPr>
            <a:lvl4pPr>
              <a:defRPr sz="1798"/>
            </a:lvl4pPr>
            <a:lvl5pPr>
              <a:defRPr sz="1798"/>
            </a:lvl5pPr>
            <a:lvl6pPr>
              <a:defRPr sz="1798"/>
            </a:lvl6pPr>
            <a:lvl7pPr>
              <a:defRPr sz="1798"/>
            </a:lvl7pPr>
            <a:lvl8pPr>
              <a:defRPr sz="1798"/>
            </a:lvl8pPr>
            <a:lvl9pPr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1" y="1600201"/>
            <a:ext cx="4038600" cy="4525963"/>
          </a:xfrm>
        </p:spPr>
        <p:txBody>
          <a:bodyPr/>
          <a:lstStyle>
            <a:lvl1pPr>
              <a:defRPr sz="2797"/>
            </a:lvl1pPr>
            <a:lvl2pPr>
              <a:defRPr sz="2398"/>
            </a:lvl2pPr>
            <a:lvl3pPr>
              <a:defRPr sz="1998"/>
            </a:lvl3pPr>
            <a:lvl4pPr>
              <a:defRPr sz="1798"/>
            </a:lvl4pPr>
            <a:lvl5pPr>
              <a:defRPr sz="1798"/>
            </a:lvl5pPr>
            <a:lvl6pPr>
              <a:defRPr sz="1798"/>
            </a:lvl6pPr>
            <a:lvl7pPr>
              <a:defRPr sz="1798"/>
            </a:lvl7pPr>
            <a:lvl8pPr>
              <a:defRPr sz="1798"/>
            </a:lvl8pPr>
            <a:lvl9pPr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22916-D7E6-4A6A-8710-06D3C4413E3B}" type="datetime1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541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697" indent="0">
              <a:buNone/>
              <a:defRPr sz="1998" b="1"/>
            </a:lvl2pPr>
            <a:lvl3pPr marL="913393" indent="0">
              <a:buNone/>
              <a:defRPr sz="1798" b="1"/>
            </a:lvl3pPr>
            <a:lvl4pPr marL="1370090" indent="0">
              <a:buNone/>
              <a:defRPr sz="1598" b="1"/>
            </a:lvl4pPr>
            <a:lvl5pPr marL="1826788" indent="0">
              <a:buNone/>
              <a:defRPr sz="1598" b="1"/>
            </a:lvl5pPr>
            <a:lvl6pPr marL="2283485" indent="0">
              <a:buNone/>
              <a:defRPr sz="1598" b="1"/>
            </a:lvl6pPr>
            <a:lvl7pPr marL="2740181" indent="0">
              <a:buNone/>
              <a:defRPr sz="1598" b="1"/>
            </a:lvl7pPr>
            <a:lvl8pPr marL="3196878" indent="0">
              <a:buNone/>
              <a:defRPr sz="1598" b="1"/>
            </a:lvl8pPr>
            <a:lvl9pPr marL="3653575" indent="0">
              <a:buNone/>
              <a:defRPr sz="15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398"/>
            </a:lvl1pPr>
            <a:lvl2pPr>
              <a:defRPr sz="1998"/>
            </a:lvl2pPr>
            <a:lvl3pPr>
              <a:defRPr sz="1798"/>
            </a:lvl3pPr>
            <a:lvl4pPr>
              <a:defRPr sz="1598"/>
            </a:lvl4pPr>
            <a:lvl5pPr>
              <a:defRPr sz="1598"/>
            </a:lvl5pPr>
            <a:lvl6pPr>
              <a:defRPr sz="1598"/>
            </a:lvl6pPr>
            <a:lvl7pPr>
              <a:defRPr sz="1598"/>
            </a:lvl7pPr>
            <a:lvl8pPr>
              <a:defRPr sz="1598"/>
            </a:lvl8pPr>
            <a:lvl9pPr>
              <a:defRPr sz="15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697" indent="0">
              <a:buNone/>
              <a:defRPr sz="1998" b="1"/>
            </a:lvl2pPr>
            <a:lvl3pPr marL="913393" indent="0">
              <a:buNone/>
              <a:defRPr sz="1798" b="1"/>
            </a:lvl3pPr>
            <a:lvl4pPr marL="1370090" indent="0">
              <a:buNone/>
              <a:defRPr sz="1598" b="1"/>
            </a:lvl4pPr>
            <a:lvl5pPr marL="1826788" indent="0">
              <a:buNone/>
              <a:defRPr sz="1598" b="1"/>
            </a:lvl5pPr>
            <a:lvl6pPr marL="2283485" indent="0">
              <a:buNone/>
              <a:defRPr sz="1598" b="1"/>
            </a:lvl6pPr>
            <a:lvl7pPr marL="2740181" indent="0">
              <a:buNone/>
              <a:defRPr sz="1598" b="1"/>
            </a:lvl7pPr>
            <a:lvl8pPr marL="3196878" indent="0">
              <a:buNone/>
              <a:defRPr sz="1598" b="1"/>
            </a:lvl8pPr>
            <a:lvl9pPr marL="3653575" indent="0">
              <a:buNone/>
              <a:defRPr sz="15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398"/>
            </a:lvl1pPr>
            <a:lvl2pPr>
              <a:defRPr sz="1998"/>
            </a:lvl2pPr>
            <a:lvl3pPr>
              <a:defRPr sz="1798"/>
            </a:lvl3pPr>
            <a:lvl4pPr>
              <a:defRPr sz="1598"/>
            </a:lvl4pPr>
            <a:lvl5pPr>
              <a:defRPr sz="1598"/>
            </a:lvl5pPr>
            <a:lvl6pPr>
              <a:defRPr sz="1598"/>
            </a:lvl6pPr>
            <a:lvl7pPr>
              <a:defRPr sz="1598"/>
            </a:lvl7pPr>
            <a:lvl8pPr>
              <a:defRPr sz="1598"/>
            </a:lvl8pPr>
            <a:lvl9pPr>
              <a:defRPr sz="15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B9D93-06BC-495C-8E81-00767E992687}" type="datetime1">
              <a:rPr lang="en-US" smtClean="0"/>
              <a:t>7/8/2025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588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FBE6-780D-4C9B-B5A6-8A4D6CBAB732}" type="datetime1">
              <a:rPr lang="en-US" smtClean="0"/>
              <a:t>7/8/2025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542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2716-A65A-44CF-B1C8-1E98812BC267}" type="datetime1">
              <a:rPr lang="en-US" smtClean="0"/>
              <a:t>7/8/2025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003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99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197"/>
            </a:lvl1pPr>
            <a:lvl2pPr>
              <a:defRPr sz="2797"/>
            </a:lvl2pPr>
            <a:lvl3pPr>
              <a:defRPr sz="2398"/>
            </a:lvl3pPr>
            <a:lvl4pPr>
              <a:defRPr sz="1998"/>
            </a:lvl4pPr>
            <a:lvl5pPr>
              <a:defRPr sz="1998"/>
            </a:lvl5pPr>
            <a:lvl6pPr>
              <a:defRPr sz="1998"/>
            </a:lvl6pPr>
            <a:lvl7pPr>
              <a:defRPr sz="1998"/>
            </a:lvl7pPr>
            <a:lvl8pPr>
              <a:defRPr sz="1998"/>
            </a:lvl8pPr>
            <a:lvl9pPr>
              <a:defRPr sz="19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398"/>
            </a:lvl1pPr>
            <a:lvl2pPr marL="456697" indent="0">
              <a:buNone/>
              <a:defRPr sz="1198"/>
            </a:lvl2pPr>
            <a:lvl3pPr marL="913393" indent="0">
              <a:buNone/>
              <a:defRPr sz="999"/>
            </a:lvl3pPr>
            <a:lvl4pPr marL="1370090" indent="0">
              <a:buNone/>
              <a:defRPr sz="899"/>
            </a:lvl4pPr>
            <a:lvl5pPr marL="1826788" indent="0">
              <a:buNone/>
              <a:defRPr sz="899"/>
            </a:lvl5pPr>
            <a:lvl6pPr marL="2283485" indent="0">
              <a:buNone/>
              <a:defRPr sz="899"/>
            </a:lvl6pPr>
            <a:lvl7pPr marL="2740181" indent="0">
              <a:buNone/>
              <a:defRPr sz="899"/>
            </a:lvl7pPr>
            <a:lvl8pPr marL="3196878" indent="0">
              <a:buNone/>
              <a:defRPr sz="899"/>
            </a:lvl8pPr>
            <a:lvl9pPr marL="3653575" indent="0">
              <a:buNone/>
              <a:defRPr sz="8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7CA44-A91E-452A-BD59-A23D8632BC32}" type="datetime1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05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199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197"/>
            </a:lvl1pPr>
            <a:lvl2pPr marL="456697" indent="0">
              <a:buNone/>
              <a:defRPr sz="2797"/>
            </a:lvl2pPr>
            <a:lvl3pPr marL="913393" indent="0">
              <a:buNone/>
              <a:defRPr sz="2398"/>
            </a:lvl3pPr>
            <a:lvl4pPr marL="1370090" indent="0">
              <a:buNone/>
              <a:defRPr sz="1998"/>
            </a:lvl4pPr>
            <a:lvl5pPr marL="1826788" indent="0">
              <a:buNone/>
              <a:defRPr sz="1998"/>
            </a:lvl5pPr>
            <a:lvl6pPr marL="2283485" indent="0">
              <a:buNone/>
              <a:defRPr sz="1998"/>
            </a:lvl6pPr>
            <a:lvl7pPr marL="2740181" indent="0">
              <a:buNone/>
              <a:defRPr sz="1998"/>
            </a:lvl7pPr>
            <a:lvl8pPr marL="3196878" indent="0">
              <a:buNone/>
              <a:defRPr sz="1998"/>
            </a:lvl8pPr>
            <a:lvl9pPr marL="3653575" indent="0">
              <a:buNone/>
              <a:defRPr sz="199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398"/>
            </a:lvl1pPr>
            <a:lvl2pPr marL="456697" indent="0">
              <a:buNone/>
              <a:defRPr sz="1198"/>
            </a:lvl2pPr>
            <a:lvl3pPr marL="913393" indent="0">
              <a:buNone/>
              <a:defRPr sz="999"/>
            </a:lvl3pPr>
            <a:lvl4pPr marL="1370090" indent="0">
              <a:buNone/>
              <a:defRPr sz="899"/>
            </a:lvl4pPr>
            <a:lvl5pPr marL="1826788" indent="0">
              <a:buNone/>
              <a:defRPr sz="899"/>
            </a:lvl5pPr>
            <a:lvl6pPr marL="2283485" indent="0">
              <a:buNone/>
              <a:defRPr sz="899"/>
            </a:lvl6pPr>
            <a:lvl7pPr marL="2740181" indent="0">
              <a:buNone/>
              <a:defRPr sz="899"/>
            </a:lvl7pPr>
            <a:lvl8pPr marL="3196878" indent="0">
              <a:buNone/>
              <a:defRPr sz="899"/>
            </a:lvl8pPr>
            <a:lvl9pPr marL="3653575" indent="0">
              <a:buNone/>
              <a:defRPr sz="8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0C4F7-5933-4283-B003-668DFAB1DE97}" type="datetime1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029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1B12E-5A0F-4780-BAD8-E5B0EBBF60C0}" type="datetime1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097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5C7D4-E350-45E3-9BB3-98AF5602D78E}" type="datetime1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17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E90DB-C893-42DF-A794-E3DA1AF971D2}" type="datetime1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1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1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3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456697" rtl="0" eaLnBrk="1" latinLnBrk="0" hangingPunct="1">
        <a:spcBef>
          <a:spcPct val="0"/>
        </a:spcBef>
        <a:buNone/>
        <a:defRPr sz="43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523" indent="-342523" algn="l" defTabSz="456697" rtl="0" eaLnBrk="1" latinLnBrk="0" hangingPunct="1">
        <a:spcBef>
          <a:spcPct val="20000"/>
        </a:spcBef>
        <a:buFont typeface="Arial"/>
        <a:buChar char="•"/>
        <a:defRPr sz="3197" kern="1200">
          <a:solidFill>
            <a:schemeClr val="tx1"/>
          </a:solidFill>
          <a:latin typeface="+mn-lt"/>
          <a:ea typeface="+mn-ea"/>
          <a:cs typeface="+mn-cs"/>
        </a:defRPr>
      </a:lvl1pPr>
      <a:lvl2pPr marL="742133" indent="-285436" algn="l" defTabSz="456697" rtl="0" eaLnBrk="1" latinLnBrk="0" hangingPunct="1">
        <a:spcBef>
          <a:spcPct val="20000"/>
        </a:spcBef>
        <a:buFont typeface="Arial"/>
        <a:buChar char="–"/>
        <a:defRPr sz="2797" kern="1200">
          <a:solidFill>
            <a:schemeClr val="tx1"/>
          </a:solidFill>
          <a:latin typeface="+mn-lt"/>
          <a:ea typeface="+mn-ea"/>
          <a:cs typeface="+mn-cs"/>
        </a:defRPr>
      </a:lvl2pPr>
      <a:lvl3pPr marL="1141742" indent="-228349" algn="l" defTabSz="456697" rtl="0" eaLnBrk="1" latinLnBrk="0" hangingPunct="1">
        <a:spcBef>
          <a:spcPct val="20000"/>
        </a:spcBef>
        <a:buFont typeface="Arial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598439" indent="-228349" algn="l" defTabSz="456697" rtl="0" eaLnBrk="1" latinLnBrk="0" hangingPunct="1">
        <a:spcBef>
          <a:spcPct val="20000"/>
        </a:spcBef>
        <a:buFont typeface="Arial"/>
        <a:buChar char="–"/>
        <a:defRPr sz="19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136" indent="-228349" algn="l" defTabSz="456697" rtl="0" eaLnBrk="1" latinLnBrk="0" hangingPunct="1">
        <a:spcBef>
          <a:spcPct val="20000"/>
        </a:spcBef>
        <a:buFont typeface="Arial"/>
        <a:buChar char="»"/>
        <a:defRPr sz="1998" kern="1200">
          <a:solidFill>
            <a:schemeClr val="tx1"/>
          </a:solidFill>
          <a:latin typeface="+mn-lt"/>
          <a:ea typeface="+mn-ea"/>
          <a:cs typeface="+mn-cs"/>
        </a:defRPr>
      </a:lvl5pPr>
      <a:lvl6pPr marL="2511833" indent="-228349" algn="l" defTabSz="456697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6pPr>
      <a:lvl7pPr marL="2968530" indent="-228349" algn="l" defTabSz="456697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7pPr>
      <a:lvl8pPr marL="3425227" indent="-228349" algn="l" defTabSz="456697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8pPr>
      <a:lvl9pPr marL="3881924" indent="-228349" algn="l" defTabSz="456697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697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393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090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6788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3485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0181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6878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3575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2"/>
          <p:cNvSpPr/>
          <p:nvPr/>
        </p:nvSpPr>
        <p:spPr>
          <a:xfrm>
            <a:off x="2379" y="3359177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3393"/>
            <a:endParaRPr lang="en-US" sz="1798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21725C3-A998-4595-9599-9EEC6D541693}"/>
              </a:ext>
            </a:extLst>
          </p:cNvPr>
          <p:cNvSpPr/>
          <p:nvPr/>
        </p:nvSpPr>
        <p:spPr>
          <a:xfrm>
            <a:off x="131654" y="950947"/>
            <a:ext cx="4345204" cy="865389"/>
          </a:xfrm>
          <a:prstGeom prst="roundRect">
            <a:avLst/>
          </a:prstGeom>
          <a:solidFill>
            <a:srgbClr val="4646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Selection of an appropriate project approach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Analysis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543970"/>
            <a:ext cx="4431695" cy="2046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/>
              <a:t>When software is developed in-house:</a:t>
            </a:r>
          </a:p>
          <a:p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Team and users usually belong to the same organization.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The project is part of a larger system portfolio.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Technologies and methods are often predefined by organizational standards.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When working for external clients, the technology and method must be chosen based on each project—this is called project analysis.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sz="1100" dirty="0"/>
          </a:p>
          <a:p>
            <a:pPr fontAlgn="base"/>
            <a:endParaRPr lang="en-US" sz="1100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3564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Choosing Technologies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6818" y="402937"/>
            <a:ext cx="4431695" cy="20313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The outcome of project analysis is the selection of appropriate methodologies and technologies.</a:t>
            </a:r>
          </a:p>
          <a:p>
            <a:endParaRPr lang="en-IN" sz="1100" dirty="0"/>
          </a:p>
          <a:p>
            <a:r>
              <a:rPr lang="en-US" sz="1100" dirty="0"/>
              <a:t>M</a:t>
            </a:r>
            <a:r>
              <a:rPr lang="en-IN" sz="1100" dirty="0"/>
              <a:t>ethodologies include</a:t>
            </a:r>
          </a:p>
          <a:p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SSADM (</a:t>
            </a:r>
            <a:r>
              <a:rPr lang="en-IN" sz="1100" i="1" dirty="0"/>
              <a:t>Structured Systems Analysis and Design Method): </a:t>
            </a:r>
            <a:r>
              <a:rPr lang="en-IN" sz="1100" dirty="0"/>
              <a:t>Used in government &amp; large systems in UK.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J</a:t>
            </a:r>
            <a:r>
              <a:rPr lang="en-IN" sz="1100" dirty="0"/>
              <a:t>SP (Jackson Structured Programming) : Focuses on structured design of programs.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OO-based models like UML : </a:t>
            </a:r>
            <a:r>
              <a:rPr lang="en-IN" sz="1100" dirty="0"/>
              <a:t>Models the system as interacting objects</a:t>
            </a:r>
            <a:endParaRPr lang="en-US" sz="1100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1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27808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Choosing Technologies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6818" y="402937"/>
            <a:ext cx="4431695" cy="15234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As well as the products and activities, the chosen methods and technologies will affect:</a:t>
            </a:r>
          </a:p>
          <a:p>
            <a:endParaRPr lang="en-US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The training requirements for development staff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The types of staff to be recruited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The development environment- both hardware and software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 System maintenance arrangements</a:t>
            </a:r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1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6665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Project Characteristics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8408" y="573453"/>
            <a:ext cx="4431695" cy="20313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en-US" sz="1100" b="1" dirty="0"/>
              <a:t>1. Is the system data-oriented or control-oriented?</a:t>
            </a:r>
          </a:p>
          <a:p>
            <a:pPr algn="just"/>
            <a:r>
              <a:rPr lang="en-US" sz="1100" b="1" dirty="0"/>
              <a:t>Data-oriented</a:t>
            </a:r>
            <a:r>
              <a:rPr lang="en-US" sz="1100" dirty="0"/>
              <a:t>: Like payroll or student information systems (dealing with large databases).</a:t>
            </a:r>
          </a:p>
          <a:p>
            <a:pPr algn="just"/>
            <a:r>
              <a:rPr lang="en-US" sz="1100" b="1" dirty="0"/>
              <a:t>Control-oriented</a:t>
            </a:r>
            <a:r>
              <a:rPr lang="en-US" sz="1100" dirty="0"/>
              <a:t>: Like embedded systems or robotics (focus on controlling hardware).</a:t>
            </a:r>
          </a:p>
          <a:p>
            <a:pPr algn="just"/>
            <a:endParaRPr lang="en-US" sz="1100" dirty="0"/>
          </a:p>
          <a:p>
            <a:pPr algn="just"/>
            <a:r>
              <a:rPr lang="en-US" sz="1100" b="1" dirty="0"/>
              <a:t>2. Is the software general-purpose or specific?</a:t>
            </a:r>
          </a:p>
          <a:p>
            <a:pPr algn="just"/>
            <a:r>
              <a:rPr lang="en-US" sz="1100" b="1" dirty="0"/>
              <a:t>General-purpose</a:t>
            </a:r>
            <a:r>
              <a:rPr lang="en-US" sz="1100" dirty="0"/>
              <a:t>: Word processor, spreadsheet (can be used by many people).</a:t>
            </a:r>
          </a:p>
          <a:p>
            <a:pPr algn="just"/>
            <a:r>
              <a:rPr lang="en-US" sz="1100" b="1" dirty="0"/>
              <a:t>Application-specific</a:t>
            </a:r>
            <a:r>
              <a:rPr lang="en-US" sz="1100" dirty="0"/>
              <a:t>: Built for a specific company or problem (e.g., an airline seat booking system).</a:t>
            </a:r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58619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Project Characteristics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8408" y="573453"/>
            <a:ext cx="4431695" cy="16927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en-US" sz="1100" b="1" dirty="0"/>
              <a:t>3. Is it for a system that already has tools developed?</a:t>
            </a:r>
          </a:p>
          <a:p>
            <a:pPr algn="just"/>
            <a:r>
              <a:rPr lang="en-US" sz="1100" dirty="0"/>
              <a:t>If yes, you can use those tools and save effort.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b="1" dirty="0"/>
              <a:t>Concurrent processing</a:t>
            </a:r>
            <a:r>
              <a:rPr lang="en-IN" sz="1100" dirty="0"/>
              <a:t>? (Multiple tasks running at once)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b="1" dirty="0"/>
              <a:t>Knowledge-based systems</a:t>
            </a:r>
            <a:r>
              <a:rPr lang="en-IN" sz="1100" dirty="0"/>
              <a:t>? (Expert systems, like medical diagnosis)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b="1" dirty="0"/>
              <a:t>Computer graphics</a:t>
            </a:r>
            <a:r>
              <a:rPr lang="en-IN" sz="1100" dirty="0"/>
              <a:t>? (e.g., games or simulations)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r>
              <a:rPr lang="en-US" sz="1100" b="1" dirty="0"/>
              <a:t>4</a:t>
            </a:r>
            <a:r>
              <a:rPr lang="en-IN" sz="1100" b="1" dirty="0"/>
              <a:t>. Safety-critical systems</a:t>
            </a:r>
            <a:r>
              <a:rPr lang="en-IN" sz="1100" dirty="0"/>
              <a:t>? (e.g., flight control systems – must avoid failure)</a:t>
            </a:r>
          </a:p>
          <a:p>
            <a:r>
              <a:rPr lang="en-IN" sz="1100" b="1" dirty="0"/>
              <a:t>5. Nature of the hardware/software environments in which the system will operate</a:t>
            </a:r>
            <a:endParaRPr lang="en-IN" sz="11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7408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 level project risks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8408" y="431635"/>
            <a:ext cx="4431695" cy="28777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1" fontAlgn="base"/>
            <a:r>
              <a:rPr lang="en-US" altLang="zh-CN" sz="1100" spc="-20" dirty="0">
                <a:ea typeface="Times New Roman"/>
              </a:rPr>
              <a:t>Uncertainty can be associated with processes, products, and resources.</a:t>
            </a:r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  <a:p>
            <a:r>
              <a:rPr lang="en-US" sz="1100" b="1" dirty="0"/>
              <a:t>Product Uncertainty</a:t>
            </a:r>
          </a:p>
          <a:p>
            <a:pPr lvl="1"/>
            <a:r>
              <a:rPr lang="en-US" sz="1100" b="1" dirty="0"/>
              <a:t>What it is:</a:t>
            </a:r>
            <a:r>
              <a:rPr lang="en-US" sz="1100" dirty="0"/>
              <a:t> You don’t fully understand what the system should do.</a:t>
            </a:r>
          </a:p>
          <a:p>
            <a:pPr lvl="1"/>
            <a:r>
              <a:rPr lang="en-US" sz="1100" b="1" dirty="0"/>
              <a:t>Example:</a:t>
            </a:r>
            <a:r>
              <a:rPr lang="en-US" sz="1100" dirty="0"/>
              <a:t> The government announces a new law, but the exact rules are still unclear. If you're building a tax software system, you won’t know what to build.</a:t>
            </a:r>
          </a:p>
          <a:p>
            <a:pPr lvl="1"/>
            <a:r>
              <a:rPr lang="en-US" sz="1100" b="1" dirty="0"/>
              <a:t>Risk:</a:t>
            </a:r>
            <a:r>
              <a:rPr lang="en-US" sz="1100" dirty="0"/>
              <a:t> You might develop the wrong system.</a:t>
            </a:r>
          </a:p>
          <a:p>
            <a:pPr lvl="1"/>
            <a:endParaRPr lang="en-US" sz="1100" dirty="0"/>
          </a:p>
          <a:p>
            <a:r>
              <a:rPr lang="en-US" sz="1100" b="1" dirty="0"/>
              <a:t>Process Uncertainty</a:t>
            </a:r>
          </a:p>
          <a:p>
            <a:pPr lvl="1"/>
            <a:r>
              <a:rPr lang="en-US" sz="1100" b="1" dirty="0"/>
              <a:t>What it is:</a:t>
            </a:r>
            <a:r>
              <a:rPr lang="en-US" sz="1100" dirty="0"/>
              <a:t> You're using a new development method or tool for the first time.</a:t>
            </a:r>
          </a:p>
          <a:p>
            <a:pPr lvl="1"/>
            <a:r>
              <a:rPr lang="en-US" sz="1100" b="1" dirty="0"/>
              <a:t>Example:</a:t>
            </a:r>
            <a:r>
              <a:rPr lang="en-US" sz="1100" dirty="0"/>
              <a:t> Your team is using </a:t>
            </a:r>
            <a:r>
              <a:rPr lang="en-US" sz="1100"/>
              <a:t>SSADM for </a:t>
            </a:r>
            <a:r>
              <a:rPr lang="en-US" sz="1100" dirty="0"/>
              <a:t>the first time.</a:t>
            </a:r>
          </a:p>
          <a:p>
            <a:pPr lvl="1"/>
            <a:r>
              <a:rPr lang="en-US" sz="1100" b="1" dirty="0"/>
              <a:t>Risk:</a:t>
            </a:r>
            <a:r>
              <a:rPr lang="en-US" sz="1100" dirty="0"/>
              <a:t> Mistakes may occur due to lack of experience or poor understanding of the process.</a:t>
            </a:r>
          </a:p>
          <a:p>
            <a:pPr lvl="1"/>
            <a:endParaRPr lang="en-US" sz="11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4064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 level project risks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8408" y="431635"/>
            <a:ext cx="4431695" cy="18620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  <a:p>
            <a:r>
              <a:rPr lang="en-US" sz="1100" b="1" dirty="0"/>
              <a:t>Resource Uncertainty</a:t>
            </a:r>
          </a:p>
          <a:p>
            <a:endParaRPr lang="en-US" sz="1100" b="1" dirty="0"/>
          </a:p>
          <a:p>
            <a:pPr lvl="1"/>
            <a:r>
              <a:rPr lang="en-US" sz="1100" b="1" dirty="0"/>
              <a:t>What it is:</a:t>
            </a:r>
            <a:r>
              <a:rPr lang="en-US" sz="1100" dirty="0"/>
              <a:t> You’re unsure whether you have the right people, skills, or time.</a:t>
            </a:r>
          </a:p>
          <a:p>
            <a:pPr lvl="1"/>
            <a:r>
              <a:rPr lang="en-US" sz="1100" b="1" dirty="0"/>
              <a:t>Example:</a:t>
            </a:r>
            <a:r>
              <a:rPr lang="en-US" sz="1100" dirty="0"/>
              <a:t> Not enough experienced developers or too many tasks for a small team.</a:t>
            </a:r>
          </a:p>
          <a:p>
            <a:pPr lvl="1"/>
            <a:r>
              <a:rPr lang="en-US" sz="1100" b="1" dirty="0"/>
              <a:t>Risk:</a:t>
            </a:r>
            <a:r>
              <a:rPr lang="en-US" sz="1100" dirty="0"/>
              <a:t> The project may get delayed or may not meet quality standards.</a:t>
            </a:r>
          </a:p>
          <a:p>
            <a:pPr lvl="1"/>
            <a:endParaRPr lang="en-US" sz="1100" dirty="0"/>
          </a:p>
          <a:p>
            <a:pPr lvl="1"/>
            <a:endParaRPr lang="en-US" sz="11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8990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plan contents list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6305"/>
            <a:ext cx="4431695" cy="14311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A </a:t>
            </a:r>
            <a:r>
              <a:rPr lang="en-IN" sz="1200" b="1" dirty="0"/>
              <a:t>technical plan</a:t>
            </a:r>
            <a:r>
              <a:rPr lang="en-IN" sz="1200" dirty="0"/>
              <a:t> documents practical requirements that are needed for software project planning.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It helps in </a:t>
            </a:r>
            <a:r>
              <a:rPr lang="en-IN" sz="1200" b="1" dirty="0"/>
              <a:t>deciding the tools, methods, and processes</a:t>
            </a:r>
            <a:r>
              <a:rPr lang="en-IN" sz="1200" dirty="0"/>
              <a:t> to use.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It might also be shown to clients to justify the approach and cost.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01346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plan contents list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6305"/>
            <a:ext cx="4431695" cy="23544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 dirty="0"/>
          </a:p>
          <a:p>
            <a:r>
              <a:rPr lang="en-IN" sz="1200" b="1" dirty="0"/>
              <a:t>1. Introduction and Summary of Constraints</a:t>
            </a:r>
            <a:endParaRPr lang="en-IN" sz="1200" dirty="0"/>
          </a:p>
          <a:p>
            <a:pPr marL="228600" lvl="0" indent="-228600">
              <a:buAutoNum type="alphaLcParenBoth"/>
            </a:pPr>
            <a:r>
              <a:rPr lang="en-IN" sz="1200" b="1" dirty="0"/>
              <a:t>Character of the system</a:t>
            </a:r>
            <a:r>
              <a:rPr lang="en-IN" sz="1200" dirty="0"/>
              <a:t>: What kind of system is it? For example, real-time, safety-critical, data-oriented?</a:t>
            </a:r>
          </a:p>
          <a:p>
            <a:pPr lvl="0"/>
            <a:endParaRPr lang="en-IN" sz="1200" dirty="0"/>
          </a:p>
          <a:p>
            <a:pPr lvl="0"/>
            <a:r>
              <a:rPr lang="en-IN" sz="1200" dirty="0"/>
              <a:t>(b) </a:t>
            </a:r>
            <a:r>
              <a:rPr lang="en-IN" sz="1200" b="1" dirty="0"/>
              <a:t>Risks and uncertainties</a:t>
            </a:r>
            <a:r>
              <a:rPr lang="en-IN" sz="1200" dirty="0"/>
              <a:t>: What could go wrong? Are the requirements unclear? Is the team experienced enough?</a:t>
            </a:r>
          </a:p>
          <a:p>
            <a:pPr lvl="0"/>
            <a:endParaRPr lang="en-IN" sz="1200" dirty="0"/>
          </a:p>
          <a:p>
            <a:pPr lvl="0"/>
            <a:r>
              <a:rPr lang="en-IN" sz="1200" dirty="0"/>
              <a:t>(c) </a:t>
            </a:r>
            <a:r>
              <a:rPr lang="en-IN" sz="1200" b="1" dirty="0"/>
              <a:t>User requirements</a:t>
            </a:r>
            <a:r>
              <a:rPr lang="en-IN" sz="1200" dirty="0"/>
              <a:t>: Are there any standards or special demands from the customer?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90484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plan contents list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6305"/>
            <a:ext cx="4431695" cy="29238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IN" sz="1200" b="1" dirty="0"/>
              <a:t>2. Recommended Approach</a:t>
            </a:r>
          </a:p>
          <a:p>
            <a:pPr marL="228600" lvl="0" indent="-228600">
              <a:buAutoNum type="alphaLcParenBoth"/>
            </a:pPr>
            <a:r>
              <a:rPr lang="en-IN" sz="1200" b="1" dirty="0"/>
              <a:t>Process Model</a:t>
            </a:r>
            <a:r>
              <a:rPr lang="en-IN" sz="1200" dirty="0"/>
              <a:t>: Which life cycle model to follow (e.g., Waterfall, Incremental, Prototyping)?</a:t>
            </a:r>
          </a:p>
          <a:p>
            <a:pPr lvl="0"/>
            <a:endParaRPr lang="en-IN" sz="1200" dirty="0"/>
          </a:p>
          <a:p>
            <a:pPr lvl="0"/>
            <a:r>
              <a:rPr lang="en-IN" sz="1200" dirty="0"/>
              <a:t>(b) </a:t>
            </a:r>
            <a:r>
              <a:rPr lang="en-IN" sz="1200" b="1" dirty="0"/>
              <a:t>Development Methods</a:t>
            </a:r>
            <a:r>
              <a:rPr lang="en-IN" sz="1200" dirty="0"/>
              <a:t>: For example, object-oriented development, structured development.</a:t>
            </a:r>
          </a:p>
          <a:p>
            <a:pPr lvl="0"/>
            <a:endParaRPr lang="en-IN" sz="1200" dirty="0"/>
          </a:p>
          <a:p>
            <a:pPr lvl="0"/>
            <a:r>
              <a:rPr lang="en-IN" sz="1200" dirty="0"/>
              <a:t>(c) </a:t>
            </a:r>
            <a:r>
              <a:rPr lang="en-IN" sz="1200" b="1" dirty="0"/>
              <a:t>Software Tools</a:t>
            </a:r>
            <a:r>
              <a:rPr lang="en-IN" sz="1200" dirty="0"/>
              <a:t>: Tools required for coding, design, version control, etc.</a:t>
            </a:r>
          </a:p>
          <a:p>
            <a:pPr lvl="0"/>
            <a:endParaRPr lang="en-IN" sz="1200" dirty="0"/>
          </a:p>
          <a:p>
            <a:pPr lvl="0"/>
            <a:r>
              <a:rPr lang="en-IN" sz="1200" dirty="0"/>
              <a:t>(d) </a:t>
            </a:r>
            <a:r>
              <a:rPr lang="en-IN" sz="1200" b="1" dirty="0"/>
              <a:t>Target Environment</a:t>
            </a:r>
            <a:r>
              <a:rPr lang="en-IN" sz="1200" dirty="0"/>
              <a:t>: What hardware or software platform is it being built for?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7371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plan contents list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6305"/>
            <a:ext cx="4431695" cy="25545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IN" sz="1200" b="1" dirty="0"/>
              <a:t>3. Implementation Requirements</a:t>
            </a:r>
          </a:p>
          <a:p>
            <a:endParaRPr lang="en-IN" sz="1200" b="1" dirty="0"/>
          </a:p>
          <a:p>
            <a:pPr marL="228600" lvl="0" indent="-228600">
              <a:buAutoNum type="alphaLcParenBoth"/>
            </a:pPr>
            <a:r>
              <a:rPr lang="en-IN" sz="1200" b="1" dirty="0"/>
              <a:t>Development Environment</a:t>
            </a:r>
            <a:r>
              <a:rPr lang="en-IN" sz="1200" dirty="0"/>
              <a:t>: The platforms/tools used by developers (like IDEs, OS, compilers).</a:t>
            </a:r>
          </a:p>
          <a:p>
            <a:pPr lvl="0"/>
            <a:endParaRPr lang="en-IN" sz="1200" dirty="0"/>
          </a:p>
          <a:p>
            <a:pPr lvl="0"/>
            <a:r>
              <a:rPr lang="en-IN" sz="1200" dirty="0"/>
              <a:t>(b) </a:t>
            </a:r>
            <a:r>
              <a:rPr lang="en-IN" sz="1200" b="1" dirty="0"/>
              <a:t>Maintenance Environment</a:t>
            </a:r>
            <a:r>
              <a:rPr lang="en-IN" sz="1200" dirty="0"/>
              <a:t>: After deployment, what tools/conditions are needed to maintain it?</a:t>
            </a:r>
          </a:p>
          <a:p>
            <a:pPr lvl="0"/>
            <a:endParaRPr lang="en-IN" sz="1200" dirty="0"/>
          </a:p>
          <a:p>
            <a:pPr lvl="0"/>
            <a:r>
              <a:rPr lang="en-IN" sz="1200" dirty="0"/>
              <a:t>(c) </a:t>
            </a:r>
            <a:r>
              <a:rPr lang="en-IN" sz="1200" b="1" dirty="0"/>
              <a:t>Training</a:t>
            </a:r>
            <a:r>
              <a:rPr lang="en-IN" sz="1200" dirty="0"/>
              <a:t>: Will the staff need to be trained for any new technology or method?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5106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plan contents list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6305"/>
            <a:ext cx="4431695" cy="14465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IN" sz="1200" b="1" dirty="0"/>
              <a:t>4. Implications</a:t>
            </a:r>
          </a:p>
          <a:p>
            <a:pPr lvl="0"/>
            <a:r>
              <a:rPr lang="en-IN" sz="1200" dirty="0"/>
              <a:t>(a) </a:t>
            </a:r>
            <a:r>
              <a:rPr lang="en-IN" sz="1200" b="1" dirty="0"/>
              <a:t>Products and Activities</a:t>
            </a:r>
            <a:r>
              <a:rPr lang="en-IN" sz="1200" dirty="0"/>
              <a:t>: What will be produced at each stage and what are the efforts/schedules involved?</a:t>
            </a:r>
          </a:p>
          <a:p>
            <a:pPr lvl="0"/>
            <a:r>
              <a:rPr lang="en-IN" sz="1200" dirty="0"/>
              <a:t>(b) </a:t>
            </a:r>
            <a:r>
              <a:rPr lang="en-IN" sz="1200" b="1" dirty="0"/>
              <a:t>Financial</a:t>
            </a:r>
            <a:r>
              <a:rPr lang="en-IN" sz="1200" dirty="0"/>
              <a:t>: The cost implications based on the choices above.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2217578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19191</TotalTime>
  <Words>847</Words>
  <Application>Microsoft Office PowerPoint</Application>
  <PresentationFormat>Custom</PresentationFormat>
  <Paragraphs>122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宋体</vt:lpstr>
      <vt:lpstr>Arial</vt:lpstr>
      <vt:lpstr>Calibri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Sindhu Alapati</dc:creator>
  <cp:lastModifiedBy>sindhu</cp:lastModifiedBy>
  <cp:revision>788</cp:revision>
  <dcterms:created xsi:type="dcterms:W3CDTF">2011-01-21T15:00:27Z</dcterms:created>
  <dcterms:modified xsi:type="dcterms:W3CDTF">2025-07-08T05:10:34Z</dcterms:modified>
</cp:coreProperties>
</file>