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sldIdLst>
    <p:sldId id="344" r:id="rId2"/>
    <p:sldId id="606" r:id="rId3"/>
    <p:sldId id="629" r:id="rId4"/>
    <p:sldId id="630" r:id="rId5"/>
    <p:sldId id="631" r:id="rId6"/>
    <p:sldId id="632" r:id="rId7"/>
    <p:sldId id="633" r:id="rId8"/>
    <p:sldId id="634" r:id="rId9"/>
    <p:sldId id="654" r:id="rId10"/>
    <p:sldId id="655" r:id="rId11"/>
    <p:sldId id="657" r:id="rId12"/>
    <p:sldId id="635" r:id="rId13"/>
    <p:sldId id="636" r:id="rId14"/>
    <p:sldId id="659" r:id="rId15"/>
    <p:sldId id="660" r:id="rId16"/>
    <p:sldId id="663" r:id="rId17"/>
    <p:sldId id="661" r:id="rId18"/>
    <p:sldId id="662" r:id="rId19"/>
    <p:sldId id="665" r:id="rId20"/>
    <p:sldId id="666" r:id="rId21"/>
    <p:sldId id="667" r:id="rId22"/>
    <p:sldId id="668" r:id="rId23"/>
    <p:sldId id="669" r:id="rId24"/>
    <p:sldId id="670" r:id="rId25"/>
    <p:sldId id="671" r:id="rId26"/>
    <p:sldId id="672" r:id="rId27"/>
    <p:sldId id="673" r:id="rId28"/>
    <p:sldId id="674" r:id="rId29"/>
    <p:sldId id="675" r:id="rId30"/>
    <p:sldId id="676" r:id="rId31"/>
  </p:sldIdLst>
  <p:sldSz cx="4608513" cy="34559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T AP" initials="NA" lastIdx="1" clrIdx="0">
    <p:extLst>
      <p:ext uri="{19B8F6BF-5375-455C-9EA6-DF929625EA0E}">
        <p15:presenceInfo xmlns:p15="http://schemas.microsoft.com/office/powerpoint/2012/main" userId="NIT A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646B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 snapToObjects="1">
      <p:cViewPr varScale="1">
        <p:scale>
          <a:sx n="167" d="100"/>
          <a:sy n="167" d="100"/>
        </p:scale>
        <p:origin x="1363" y="115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B7802-094E-4307-A812-AC720EB39FB3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AA1D91-3FC5-4706-942A-2EB17840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065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419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5127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664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227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350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4201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5097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94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1909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966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6772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38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1670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3517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19658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53089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43199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7012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98022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87639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8128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76685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80872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34606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7356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39251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6342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2473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631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6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3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7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3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0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6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35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4F96-94B7-463C-9FD0-A63BBE3D5E91}" type="datetime1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9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86B5-C70E-44B5-AD82-94D4AFCC796C}" type="datetime1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6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1"/>
            <a:ext cx="7772400" cy="1362075"/>
          </a:xfrm>
        </p:spPr>
        <p:txBody>
          <a:bodyPr anchor="t"/>
          <a:lstStyle>
            <a:lvl1pPr algn="l">
              <a:defRPr sz="399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1pPr>
            <a:lvl2pPr marL="456697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2pPr>
            <a:lvl3pPr marL="91339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3pPr>
            <a:lvl4pPr marL="1370090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4pPr>
            <a:lvl5pPr marL="1826788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5pPr>
            <a:lvl6pPr marL="2283485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6pPr>
            <a:lvl7pPr marL="2740181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7pPr>
            <a:lvl8pPr marL="3196878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8pPr>
            <a:lvl9pPr marL="3653575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DC4F-0DC8-4D33-B19A-B6FAFD3868A6}" type="datetime1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4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798"/>
            </a:lvl4pPr>
            <a:lvl5pPr>
              <a:defRPr sz="1798"/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600201"/>
            <a:ext cx="4038600" cy="4525963"/>
          </a:xfr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798"/>
            </a:lvl4pPr>
            <a:lvl5pPr>
              <a:defRPr sz="1798"/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2916-D7E6-4A6A-8710-06D3C4413E3B}" type="datetime1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4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697" indent="0">
              <a:buNone/>
              <a:defRPr sz="1998" b="1"/>
            </a:lvl2pPr>
            <a:lvl3pPr marL="913393" indent="0">
              <a:buNone/>
              <a:defRPr sz="1798" b="1"/>
            </a:lvl3pPr>
            <a:lvl4pPr marL="1370090" indent="0">
              <a:buNone/>
              <a:defRPr sz="1598" b="1"/>
            </a:lvl4pPr>
            <a:lvl5pPr marL="1826788" indent="0">
              <a:buNone/>
              <a:defRPr sz="1598" b="1"/>
            </a:lvl5pPr>
            <a:lvl6pPr marL="2283485" indent="0">
              <a:buNone/>
              <a:defRPr sz="1598" b="1"/>
            </a:lvl6pPr>
            <a:lvl7pPr marL="2740181" indent="0">
              <a:buNone/>
              <a:defRPr sz="1598" b="1"/>
            </a:lvl7pPr>
            <a:lvl8pPr marL="3196878" indent="0">
              <a:buNone/>
              <a:defRPr sz="1598" b="1"/>
            </a:lvl8pPr>
            <a:lvl9pPr marL="3653575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8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697" indent="0">
              <a:buNone/>
              <a:defRPr sz="1998" b="1"/>
            </a:lvl2pPr>
            <a:lvl3pPr marL="913393" indent="0">
              <a:buNone/>
              <a:defRPr sz="1798" b="1"/>
            </a:lvl3pPr>
            <a:lvl4pPr marL="1370090" indent="0">
              <a:buNone/>
              <a:defRPr sz="1598" b="1"/>
            </a:lvl4pPr>
            <a:lvl5pPr marL="1826788" indent="0">
              <a:buNone/>
              <a:defRPr sz="1598" b="1"/>
            </a:lvl5pPr>
            <a:lvl6pPr marL="2283485" indent="0">
              <a:buNone/>
              <a:defRPr sz="1598" b="1"/>
            </a:lvl6pPr>
            <a:lvl7pPr marL="2740181" indent="0">
              <a:buNone/>
              <a:defRPr sz="1598" b="1"/>
            </a:lvl7pPr>
            <a:lvl8pPr marL="3196878" indent="0">
              <a:buNone/>
              <a:defRPr sz="1598" b="1"/>
            </a:lvl8pPr>
            <a:lvl9pPr marL="3653575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8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B9D93-06BC-495C-8E81-00767E992687}" type="datetime1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8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FBE6-780D-4C9B-B5A6-8A4D6CBAB732}" type="datetime1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4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2716-A65A-44CF-B1C8-1E98812BC267}" type="datetime1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03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197"/>
            </a:lvl1pPr>
            <a:lvl2pPr>
              <a:defRPr sz="2797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398"/>
            </a:lvl1pPr>
            <a:lvl2pPr marL="456697" indent="0">
              <a:buNone/>
              <a:defRPr sz="1198"/>
            </a:lvl2pPr>
            <a:lvl3pPr marL="913393" indent="0">
              <a:buNone/>
              <a:defRPr sz="999"/>
            </a:lvl3pPr>
            <a:lvl4pPr marL="1370090" indent="0">
              <a:buNone/>
              <a:defRPr sz="899"/>
            </a:lvl4pPr>
            <a:lvl5pPr marL="1826788" indent="0">
              <a:buNone/>
              <a:defRPr sz="899"/>
            </a:lvl5pPr>
            <a:lvl6pPr marL="2283485" indent="0">
              <a:buNone/>
              <a:defRPr sz="899"/>
            </a:lvl6pPr>
            <a:lvl7pPr marL="2740181" indent="0">
              <a:buNone/>
              <a:defRPr sz="899"/>
            </a:lvl7pPr>
            <a:lvl8pPr marL="3196878" indent="0">
              <a:buNone/>
              <a:defRPr sz="899"/>
            </a:lvl8pPr>
            <a:lvl9pPr marL="3653575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CA44-A91E-452A-BD59-A23D8632BC32}" type="datetime1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0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197"/>
            </a:lvl1pPr>
            <a:lvl2pPr marL="456697" indent="0">
              <a:buNone/>
              <a:defRPr sz="2797"/>
            </a:lvl2pPr>
            <a:lvl3pPr marL="913393" indent="0">
              <a:buNone/>
              <a:defRPr sz="2398"/>
            </a:lvl3pPr>
            <a:lvl4pPr marL="1370090" indent="0">
              <a:buNone/>
              <a:defRPr sz="1998"/>
            </a:lvl4pPr>
            <a:lvl5pPr marL="1826788" indent="0">
              <a:buNone/>
              <a:defRPr sz="1998"/>
            </a:lvl5pPr>
            <a:lvl6pPr marL="2283485" indent="0">
              <a:buNone/>
              <a:defRPr sz="1998"/>
            </a:lvl6pPr>
            <a:lvl7pPr marL="2740181" indent="0">
              <a:buNone/>
              <a:defRPr sz="1998"/>
            </a:lvl7pPr>
            <a:lvl8pPr marL="3196878" indent="0">
              <a:buNone/>
              <a:defRPr sz="1998"/>
            </a:lvl8pPr>
            <a:lvl9pPr marL="3653575" indent="0">
              <a:buNone/>
              <a:defRPr sz="19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398"/>
            </a:lvl1pPr>
            <a:lvl2pPr marL="456697" indent="0">
              <a:buNone/>
              <a:defRPr sz="1198"/>
            </a:lvl2pPr>
            <a:lvl3pPr marL="913393" indent="0">
              <a:buNone/>
              <a:defRPr sz="999"/>
            </a:lvl3pPr>
            <a:lvl4pPr marL="1370090" indent="0">
              <a:buNone/>
              <a:defRPr sz="899"/>
            </a:lvl4pPr>
            <a:lvl5pPr marL="1826788" indent="0">
              <a:buNone/>
              <a:defRPr sz="899"/>
            </a:lvl5pPr>
            <a:lvl6pPr marL="2283485" indent="0">
              <a:buNone/>
              <a:defRPr sz="899"/>
            </a:lvl6pPr>
            <a:lvl7pPr marL="2740181" indent="0">
              <a:buNone/>
              <a:defRPr sz="899"/>
            </a:lvl7pPr>
            <a:lvl8pPr marL="3196878" indent="0">
              <a:buNone/>
              <a:defRPr sz="899"/>
            </a:lvl8pPr>
            <a:lvl9pPr marL="3653575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C4F7-5933-4283-B003-668DFAB1DE97}" type="datetime1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29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B12E-5A0F-4780-BAD8-E5B0EBBF60C0}" type="datetime1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C7D4-E350-45E3-9BB3-98AF5602D78E}" type="datetime1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1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E90DB-C893-42DF-A794-E3DA1AF971D2}" type="datetime1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1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456697" rtl="0" eaLnBrk="1" latinLnBrk="0" hangingPunct="1"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523" indent="-342523" algn="l" defTabSz="456697" rtl="0" eaLnBrk="1" latinLnBrk="0" hangingPunct="1">
        <a:spcBef>
          <a:spcPct val="20000"/>
        </a:spcBef>
        <a:buFont typeface="Arial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1pPr>
      <a:lvl2pPr marL="742133" indent="-285436" algn="l" defTabSz="456697" rtl="0" eaLnBrk="1" latinLnBrk="0" hangingPunct="1">
        <a:spcBef>
          <a:spcPct val="20000"/>
        </a:spcBef>
        <a:buFont typeface="Arial"/>
        <a:buChar char="–"/>
        <a:defRPr sz="2797" kern="1200">
          <a:solidFill>
            <a:schemeClr val="tx1"/>
          </a:solidFill>
          <a:latin typeface="+mn-lt"/>
          <a:ea typeface="+mn-ea"/>
          <a:cs typeface="+mn-cs"/>
        </a:defRPr>
      </a:lvl2pPr>
      <a:lvl3pPr marL="1141742" indent="-228349" algn="l" defTabSz="456697" rtl="0" eaLnBrk="1" latinLnBrk="0" hangingPunct="1">
        <a:spcBef>
          <a:spcPct val="20000"/>
        </a:spcBef>
        <a:buFont typeface="Arial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439" indent="-228349" algn="l" defTabSz="456697" rtl="0" eaLnBrk="1" latinLnBrk="0" hangingPunct="1">
        <a:spcBef>
          <a:spcPct val="20000"/>
        </a:spcBef>
        <a:buFont typeface="Arial"/>
        <a:buChar char="–"/>
        <a:defRPr sz="19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136" indent="-228349" algn="l" defTabSz="456697" rtl="0" eaLnBrk="1" latinLnBrk="0" hangingPunct="1">
        <a:spcBef>
          <a:spcPct val="20000"/>
        </a:spcBef>
        <a:buFont typeface="Arial"/>
        <a:buChar char="»"/>
        <a:defRPr sz="1998" kern="1200">
          <a:solidFill>
            <a:schemeClr val="tx1"/>
          </a:solidFill>
          <a:latin typeface="+mn-lt"/>
          <a:ea typeface="+mn-ea"/>
          <a:cs typeface="+mn-cs"/>
        </a:defRPr>
      </a:lvl5pPr>
      <a:lvl6pPr marL="2511833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530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227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8pPr>
      <a:lvl9pPr marL="3881924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697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393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090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788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485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181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6878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575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2"/>
          <p:cNvSpPr/>
          <p:nvPr/>
        </p:nvSpPr>
        <p:spPr>
          <a:xfrm>
            <a:off x="2379" y="3359177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3393"/>
            <a:endParaRPr lang="en-US" sz="1798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1725C3-A998-4595-9599-9EEC6D541693}"/>
              </a:ext>
            </a:extLst>
          </p:cNvPr>
          <p:cNvSpPr/>
          <p:nvPr/>
        </p:nvSpPr>
        <p:spPr>
          <a:xfrm>
            <a:off x="131654" y="950947"/>
            <a:ext cx="4345204" cy="865389"/>
          </a:xfrm>
          <a:prstGeom prst="roundRect">
            <a:avLst/>
          </a:prstGeom>
          <a:solidFill>
            <a:srgbClr val="4646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 Evaluation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Evaluation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43970"/>
            <a:ext cx="4431695" cy="27238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dirty="0"/>
              <a:t>Project evaluation is about deciding whether a project is </a:t>
            </a:r>
            <a:r>
              <a:rPr lang="en-US" sz="1100" b="1" dirty="0"/>
              <a:t>worth doing</a:t>
            </a:r>
            <a:r>
              <a:rPr lang="en-US" sz="1100" dirty="0"/>
              <a:t>, by comparing it with other alternatives (including “do nothing”).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dirty="0"/>
              <a:t>Usually done at </a:t>
            </a:r>
            <a:r>
              <a:rPr lang="en-US" sz="1100" b="1" dirty="0"/>
              <a:t>Step 0</a:t>
            </a:r>
            <a:r>
              <a:rPr lang="en-US" sz="1100" dirty="0"/>
              <a:t> of Step Wise planning → during </a:t>
            </a:r>
            <a:r>
              <a:rPr lang="en-US" sz="1100" b="1" dirty="0"/>
              <a:t>project selection</a:t>
            </a:r>
            <a:r>
              <a:rPr lang="en-US" sz="1100" dirty="0"/>
              <a:t> phase.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100" dirty="0"/>
          </a:p>
          <a:p>
            <a:pPr fontAlgn="base"/>
            <a:endParaRPr lang="en-US" sz="1100" dirty="0"/>
          </a:p>
          <a:p>
            <a:r>
              <a:rPr lang="en-US" sz="1100" dirty="0"/>
              <a:t>Project evaluation is how they check if an idea is:</a:t>
            </a:r>
          </a:p>
          <a:p>
            <a:r>
              <a:rPr lang="en-US" sz="1100" b="1" dirty="0"/>
              <a:t>Strategic:</a:t>
            </a:r>
            <a:r>
              <a:rPr lang="en-US" sz="1100" dirty="0"/>
              <a:t> Does it help us reach our long-term company goals? (e.g., become the best phone company?)</a:t>
            </a:r>
          </a:p>
          <a:p>
            <a:r>
              <a:rPr lang="en-US" sz="1100" b="1" dirty="0"/>
              <a:t>Technical:</a:t>
            </a:r>
            <a:r>
              <a:rPr lang="en-US" sz="1100" dirty="0"/>
              <a:t> Can we actually build it with our skills and tools?</a:t>
            </a:r>
          </a:p>
          <a:p>
            <a:r>
              <a:rPr lang="en-US" sz="1100" b="1" dirty="0"/>
              <a:t>Economic:</a:t>
            </a:r>
            <a:r>
              <a:rPr lang="en-US" sz="1100" dirty="0"/>
              <a:t> Will it make money or save money? Is it worth the cost?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100" dirty="0"/>
          </a:p>
          <a:p>
            <a:pPr fontAlgn="base"/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356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-10790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Assesment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i="1" dirty="0"/>
              <a:t>Step-1</a:t>
            </a:r>
            <a:r>
              <a:rPr lang="en-US" sz="1100" b="1" i="1" dirty="0"/>
              <a:t>: Identify Project Scope and Objectives</a:t>
            </a:r>
          </a:p>
          <a:p>
            <a:endParaRPr lang="en-US" sz="1100" i="1" dirty="0"/>
          </a:p>
          <a:p>
            <a:r>
              <a:rPr lang="en-US" sz="1100" b="1" dirty="0"/>
              <a:t>1.1 </a:t>
            </a:r>
            <a:r>
              <a:rPr lang="en-US" sz="1100" dirty="0"/>
              <a:t>Identify objectives and measures of effectiveness</a:t>
            </a:r>
          </a:p>
          <a:p>
            <a:r>
              <a:rPr lang="en-US" sz="1100" b="1" dirty="0"/>
              <a:t>Objective</a:t>
            </a:r>
            <a:r>
              <a:rPr lang="en-US" sz="1100" dirty="0"/>
              <a:t>: Automate attendance tracking.</a:t>
            </a:r>
          </a:p>
          <a:p>
            <a:r>
              <a:rPr lang="en-US" sz="1100" b="1" dirty="0"/>
              <a:t>Measure</a:t>
            </a:r>
            <a:r>
              <a:rPr lang="en-US" sz="1100" dirty="0"/>
              <a:t>: Reduce manual errors by 90% within 3 months.</a:t>
            </a:r>
          </a:p>
          <a:p>
            <a:endParaRPr lang="en-US" sz="1100" dirty="0"/>
          </a:p>
          <a:p>
            <a:r>
              <a:rPr lang="en-US" sz="1100" b="1" dirty="0"/>
              <a:t>1.2 </a:t>
            </a:r>
            <a:r>
              <a:rPr lang="en-US" sz="1100" dirty="0"/>
              <a:t>Establish a project authority</a:t>
            </a:r>
          </a:p>
          <a:p>
            <a:r>
              <a:rPr lang="en-US" sz="1100" b="1" dirty="0"/>
              <a:t>Example</a:t>
            </a:r>
            <a:r>
              <a:rPr lang="en-US" sz="1100" dirty="0"/>
              <a:t>: The Head of the CSE Department is appointed as the project authority.</a:t>
            </a:r>
          </a:p>
          <a:p>
            <a:endParaRPr lang="en-US" sz="1100" dirty="0"/>
          </a:p>
          <a:p>
            <a:r>
              <a:rPr lang="en-US" sz="1100" b="1" dirty="0"/>
              <a:t>1.3 </a:t>
            </a:r>
            <a:r>
              <a:rPr lang="en-US" sz="1100" dirty="0"/>
              <a:t>Identify stakeholders and their interests</a:t>
            </a:r>
          </a:p>
          <a:p>
            <a:r>
              <a:rPr lang="en-US" sz="1100" b="1" dirty="0"/>
              <a:t>Faculty</a:t>
            </a:r>
            <a:r>
              <a:rPr lang="en-US" sz="1100" dirty="0"/>
              <a:t>: Quick and easy attendance marking.</a:t>
            </a:r>
          </a:p>
          <a:p>
            <a:r>
              <a:rPr lang="en-US" sz="1100" b="1" dirty="0"/>
              <a:t>Students</a:t>
            </a:r>
            <a:r>
              <a:rPr lang="en-US" sz="1100" dirty="0"/>
              <a:t>: View attendance history.</a:t>
            </a:r>
          </a:p>
          <a:p>
            <a:r>
              <a:rPr lang="en-US" sz="1100" b="1" dirty="0"/>
              <a:t>Admin</a:t>
            </a:r>
            <a:r>
              <a:rPr lang="en-US" sz="1100" dirty="0"/>
              <a:t>: Generate monthly reports.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B85BED-F15D-4CE4-BA58-50B9F4FB1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95" y="338328"/>
            <a:ext cx="4608513" cy="32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04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Assessment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47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dirty="0"/>
              <a:t>·  </a:t>
            </a:r>
            <a:r>
              <a:rPr lang="en-IN" sz="1100" b="1" dirty="0"/>
              <a:t>Objectives:</a:t>
            </a:r>
            <a:r>
              <a:rPr lang="en-IN" sz="1100" dirty="0"/>
              <a:t> "How will this system specifically help us ensure students attend classes, improve record-keeping accuracy, and help identify at-risk students sooner?“</a:t>
            </a:r>
          </a:p>
          <a:p>
            <a:endParaRPr lang="en-IN" sz="1100" dirty="0"/>
          </a:p>
          <a:p>
            <a:r>
              <a:rPr lang="en-IN" sz="1100" dirty="0"/>
              <a:t>·  </a:t>
            </a:r>
            <a:r>
              <a:rPr lang="en-IN" sz="1100" b="1" dirty="0"/>
              <a:t>Existing Systems (IS Plan):</a:t>
            </a:r>
            <a:r>
              <a:rPr lang="en-IN" sz="1100" dirty="0"/>
              <a:t> "Will this attendance system integrate with our existing Student Information System (SIS)? Can it share data with our learning management system (LMS)?“</a:t>
            </a:r>
          </a:p>
          <a:p>
            <a:endParaRPr lang="en-IN" sz="1100" dirty="0"/>
          </a:p>
          <a:p>
            <a:r>
              <a:rPr lang="en-IN" sz="1100" dirty="0"/>
              <a:t>·  </a:t>
            </a:r>
            <a:r>
              <a:rPr lang="en-IN" sz="1100" b="1" dirty="0"/>
              <a:t>University/School Structure:</a:t>
            </a:r>
            <a:r>
              <a:rPr lang="en-IN" sz="1100" dirty="0"/>
              <a:t> "Who will be responsible for managing this system? Will teachers need specific training? How will it affect the administrative staff who currently handle attendance records?"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1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7808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Assessment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dirty="0"/>
              <a:t>·  </a:t>
            </a:r>
            <a:r>
              <a:rPr lang="en-IN" sz="1100" b="1" dirty="0"/>
              <a:t>Information (MIS):</a:t>
            </a:r>
            <a:r>
              <a:rPr lang="en-IN" sz="1100" dirty="0"/>
              <a:t> "What kind of reports will this system generate (e.g., daily attendance, absentee lists, trends over time)? Will it help deans or advisors intervene more effectively?“</a:t>
            </a:r>
          </a:p>
          <a:p>
            <a:endParaRPr lang="en-IN" sz="1100" dirty="0"/>
          </a:p>
          <a:p>
            <a:r>
              <a:rPr lang="en-IN" sz="1100" dirty="0"/>
              <a:t>·  </a:t>
            </a:r>
            <a:r>
              <a:rPr lang="en-IN" sz="1100" b="1" dirty="0"/>
              <a:t>Personnel:</a:t>
            </a:r>
            <a:r>
              <a:rPr lang="en-IN" sz="1100" dirty="0"/>
              <a:t> "Do our IT staff have the skills to support this new system? Will all faculty and administrative staff need training on how to use it?“</a:t>
            </a:r>
          </a:p>
          <a:p>
            <a:endParaRPr lang="en-IN" sz="1100" dirty="0"/>
          </a:p>
          <a:p>
            <a:r>
              <a:rPr lang="en-IN" sz="1100" dirty="0"/>
              <a:t>·  </a:t>
            </a:r>
            <a:r>
              <a:rPr lang="en-IN" sz="1100" b="1" dirty="0"/>
              <a:t>Image:</a:t>
            </a:r>
            <a:r>
              <a:rPr lang="en-IN" sz="1100" dirty="0"/>
              <a:t> "How will this system affect the perception of the school by students and parents? Will it be seen as a modern, efficient tool, or as an intrusive 'big brother' system?" (Especially relevant if using biometric attendance).</a:t>
            </a:r>
          </a:p>
          <a:p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898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 Management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6305"/>
            <a:ext cx="4431695" cy="23852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endParaRPr lang="en-US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Projects are the individual pieces, </a:t>
            </a:r>
            <a:r>
              <a:rPr lang="en-US" sz="1100" dirty="0" err="1"/>
              <a:t>Programmes</a:t>
            </a:r>
            <a:r>
              <a:rPr lang="en-US" sz="1100" dirty="0"/>
              <a:t> group related projects for a bigger goal, and a Portfolio is </a:t>
            </a:r>
            <a:r>
              <a:rPr lang="en-US" sz="1100" i="1" dirty="0"/>
              <a:t>all</a:t>
            </a:r>
            <a:r>
              <a:rPr lang="en-US" sz="1100" dirty="0"/>
              <a:t> the projects and </a:t>
            </a:r>
            <a:r>
              <a:rPr lang="en-US" sz="1100" dirty="0" err="1"/>
              <a:t>programmes</a:t>
            </a:r>
            <a:r>
              <a:rPr lang="en-US" sz="1100" dirty="0"/>
              <a:t> an organization is doing.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b="1" dirty="0"/>
              <a:t>Portfolio Management</a:t>
            </a:r>
            <a:r>
              <a:rPr lang="en-US" sz="1100" dirty="0"/>
              <a:t> as the process of making </a:t>
            </a:r>
            <a:r>
              <a:rPr lang="en-US" sz="1100" b="1" dirty="0"/>
              <a:t>top-level decisions</a:t>
            </a:r>
            <a:r>
              <a:rPr lang="en-US" sz="1100" dirty="0"/>
              <a:t> about </a:t>
            </a:r>
            <a:r>
              <a:rPr lang="en-US" sz="1100" i="1" dirty="0"/>
              <a:t>what</a:t>
            </a:r>
            <a:r>
              <a:rPr lang="en-US" sz="1100" dirty="0"/>
              <a:t> projects and </a:t>
            </a:r>
            <a:r>
              <a:rPr lang="en-US" sz="1100" dirty="0" err="1"/>
              <a:t>programmes</a:t>
            </a:r>
            <a:r>
              <a:rPr lang="en-US" sz="1100" dirty="0"/>
              <a:t> an organization should undertake to achieve its </a:t>
            </a:r>
            <a:r>
              <a:rPr lang="en-US" sz="1100" i="1" dirty="0"/>
              <a:t>overall strategic goals</a:t>
            </a:r>
            <a:r>
              <a:rPr lang="en-US" sz="1100" dirty="0"/>
              <a:t>. It's about selecting, prioritizing, balancing, and controlling the entire collection of investments.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Strategic Assessment is the "Filter" for Portfolio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1346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Assessment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Technical Assessment</a:t>
            </a:r>
            <a:r>
              <a:rPr lang="en-US" sz="1100" dirty="0"/>
              <a:t> is a detailed evaluation of whether a proposed software or information system can be </a:t>
            </a:r>
            <a:r>
              <a:rPr lang="en-US" sz="1100" b="1" dirty="0"/>
              <a:t>successfully developed and implemented</a:t>
            </a:r>
            <a:r>
              <a:rPr lang="en-US" sz="1100" dirty="0"/>
              <a:t> using the existing or planned </a:t>
            </a:r>
            <a:r>
              <a:rPr lang="en-US" sz="1100" b="1" dirty="0"/>
              <a:t>hardware, software, networks, and human resources</a:t>
            </a:r>
            <a:r>
              <a:rPr lang="en-US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 ensures that the system is </a:t>
            </a:r>
            <a:r>
              <a:rPr lang="en-US" sz="1100" b="1" dirty="0"/>
              <a:t>technically feasible</a:t>
            </a:r>
            <a:r>
              <a:rPr lang="en-US" sz="1100" dirty="0"/>
              <a:t> and aligns with the organization’s IT environment and strategy.</a:t>
            </a:r>
          </a:p>
          <a:p>
            <a:endParaRPr lang="en-US" sz="1100" i="1" dirty="0"/>
          </a:p>
          <a:p>
            <a:endParaRPr lang="en-US" sz="1100" i="1" dirty="0"/>
          </a:p>
          <a:p>
            <a:r>
              <a:rPr lang="en-US" sz="1100" b="1" dirty="0"/>
              <a:t>Purpose of Technical Assessment</a:t>
            </a:r>
          </a:p>
          <a:p>
            <a:endParaRPr lang="en-US" sz="1100" b="1" dirty="0"/>
          </a:p>
          <a:p>
            <a:r>
              <a:rPr lang="en-US" sz="1100" dirty="0"/>
              <a:t>To </a:t>
            </a:r>
            <a:r>
              <a:rPr lang="en-US" sz="1100" b="1" dirty="0"/>
              <a:t>verify technical feasibility</a:t>
            </a:r>
            <a:r>
              <a:rPr lang="en-US" sz="1100" dirty="0"/>
              <a:t> before investing resources.</a:t>
            </a:r>
          </a:p>
          <a:p>
            <a:r>
              <a:rPr lang="en-US" sz="1100" dirty="0"/>
              <a:t>To identify </a:t>
            </a:r>
            <a:r>
              <a:rPr lang="en-US" sz="1100" b="1" dirty="0"/>
              <a:t>technical challenges or incompatibilities</a:t>
            </a:r>
            <a:r>
              <a:rPr lang="en-US" sz="1100" dirty="0"/>
              <a:t>.</a:t>
            </a:r>
          </a:p>
          <a:p>
            <a:r>
              <a:rPr lang="en-US" sz="1100" dirty="0"/>
              <a:t>To check whether </a:t>
            </a:r>
            <a:r>
              <a:rPr lang="en-US" sz="1100" b="1" dirty="0"/>
              <a:t>existing infrastructure</a:t>
            </a:r>
            <a:r>
              <a:rPr lang="en-US" sz="1100" dirty="0"/>
              <a:t> supports the new system.</a:t>
            </a:r>
          </a:p>
          <a:p>
            <a:r>
              <a:rPr lang="en-US" sz="1100" dirty="0"/>
              <a:t>To </a:t>
            </a:r>
            <a:r>
              <a:rPr lang="en-US" sz="1100" b="1" dirty="0"/>
              <a:t>narrow down solution options</a:t>
            </a:r>
            <a:r>
              <a:rPr lang="en-US" sz="1100" dirty="0"/>
              <a:t> based on technical constraints.</a:t>
            </a:r>
          </a:p>
          <a:p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07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Analysis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436" y="608922"/>
            <a:ext cx="4431695" cy="1862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Cost-Benefit Analysis is a structured method used to evaluate whether a project is economically viable. 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 compares the expected </a:t>
            </a:r>
            <a:r>
              <a:rPr lang="en-US" sz="1100" b="1" dirty="0"/>
              <a:t>costs</a:t>
            </a:r>
            <a:r>
              <a:rPr lang="en-US" sz="1100" dirty="0"/>
              <a:t> of a project with the </a:t>
            </a:r>
            <a:r>
              <a:rPr lang="en-US" sz="1100" b="1" dirty="0"/>
              <a:t>benefits</a:t>
            </a:r>
            <a:r>
              <a:rPr lang="en-US" sz="1100" dirty="0"/>
              <a:t> it is expected to deliver, both expressed in </a:t>
            </a:r>
            <a:r>
              <a:rPr lang="en-US" sz="1100" b="1" dirty="0"/>
              <a:t>monetary terms</a:t>
            </a:r>
            <a:r>
              <a:rPr lang="en-US" sz="1100" dirty="0"/>
              <a:t>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Cost-benefit analysis consists of 2 steps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Step 1: Identify and Estimate Costs and Benefits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Step 2: Express Costs and Benefits in Common Units (Money)</a:t>
            </a:r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7340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Cost-Flow Forecasting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436" y="708169"/>
            <a:ext cx="4431695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Costs are typically divided into: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/>
              <a:t>Development Costs</a:t>
            </a:r>
            <a:r>
              <a:rPr lang="en-US" sz="1100" dirty="0"/>
              <a:t> – Salaries of the development team, tools, software licenses.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/>
              <a:t>Setup Costs</a:t>
            </a:r>
            <a:r>
              <a:rPr lang="en-US" sz="1100" dirty="0"/>
              <a:t> – Buying servers, hiring trainers, migrating data.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/>
              <a:t>Operational Costs</a:t>
            </a:r>
            <a:r>
              <a:rPr lang="en-US" sz="1100" dirty="0"/>
              <a:t> – Ongoing maintenance, electricity, salaries post-deployment.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Benefits</a:t>
            </a:r>
            <a:r>
              <a:rPr lang="en-US" sz="1100" dirty="0"/>
              <a:t> are usually categorized as: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/>
              <a:t>Direct Benefits</a:t>
            </a:r>
            <a:r>
              <a:rPr lang="en-US" sz="1100" dirty="0"/>
              <a:t> – e.g., reduced labor costs due to automation.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/>
              <a:t>Assessable Indirect Benefits</a:t>
            </a:r>
            <a:r>
              <a:rPr lang="en-US" sz="1100" dirty="0"/>
              <a:t> – e.g., fewer errors due to better UI.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/>
              <a:t>Intangible Benefits</a:t>
            </a:r>
            <a:r>
              <a:rPr lang="en-US" sz="1100" dirty="0"/>
              <a:t> – e.g., improved employee morale or brand reputation.</a:t>
            </a:r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2979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8408" y="708169"/>
            <a:ext cx="4431695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A </a:t>
            </a:r>
            <a:r>
              <a:rPr lang="en-US" sz="1100" b="1" dirty="0"/>
              <a:t>cash flow forecast</a:t>
            </a:r>
            <a:r>
              <a:rPr lang="en-US" sz="1100" dirty="0"/>
              <a:t> shows: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When money will be spent (costs)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When income or benefits will be received (benefits)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1203D8-1882-4208-B8BF-CEC165683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93" y="1732678"/>
            <a:ext cx="3830525" cy="118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40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74440" y="623530"/>
            <a:ext cx="4431695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Negative values </a:t>
            </a:r>
            <a:r>
              <a:rPr lang="en-US" sz="1100" dirty="0">
                <a:sym typeface="Wingdings" panose="05000000000000000000" pitchFamily="2" charset="2"/>
              </a:rPr>
              <a:t> Expenditure</a:t>
            </a:r>
          </a:p>
          <a:p>
            <a:r>
              <a:rPr lang="en-US" sz="1100" dirty="0">
                <a:sym typeface="Wingdings" panose="05000000000000000000" pitchFamily="2" charset="2"/>
              </a:rPr>
              <a:t>Positive Values  Income</a:t>
            </a:r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4B882D-037A-42F2-93C7-D5111BB88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1" y="1340631"/>
            <a:ext cx="4198248" cy="151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846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evaluation techniques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436" y="608922"/>
            <a:ext cx="4431695" cy="25391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1. Net Profit</a:t>
            </a:r>
          </a:p>
          <a:p>
            <a:r>
              <a:rPr lang="en-US" sz="1100" b="1" dirty="0"/>
              <a:t>Formula:</a:t>
            </a:r>
            <a:endParaRPr lang="en-US" sz="1100" dirty="0"/>
          </a:p>
          <a:p>
            <a:r>
              <a:rPr lang="en-US" sz="1100" dirty="0"/>
              <a:t>	Net Profit=Total Benefits−Total Costs</a:t>
            </a:r>
          </a:p>
          <a:p>
            <a:r>
              <a:rPr lang="en-US" sz="1100" b="1" dirty="0"/>
              <a:t>What it tells:</a:t>
            </a:r>
            <a:br>
              <a:rPr lang="en-US" sz="1100" dirty="0"/>
            </a:br>
            <a:r>
              <a:rPr lang="en-US" sz="1100" dirty="0"/>
              <a:t>The amount of money you gain (or lose) over the entire project lifecycle.</a:t>
            </a:r>
          </a:p>
          <a:p>
            <a:r>
              <a:rPr lang="en-US" sz="1100" b="1" dirty="0"/>
              <a:t>Limitations:</a:t>
            </a:r>
            <a:endParaRPr lang="en-US" sz="1100" dirty="0"/>
          </a:p>
          <a:p>
            <a:r>
              <a:rPr lang="en-US" sz="1100" dirty="0"/>
              <a:t>Ignores </a:t>
            </a:r>
            <a:r>
              <a:rPr lang="en-US" sz="1100" b="1" dirty="0"/>
              <a:t>when</a:t>
            </a:r>
            <a:r>
              <a:rPr lang="en-US" sz="1100" dirty="0"/>
              <a:t> the money comes in (timing).</a:t>
            </a:r>
          </a:p>
          <a:p>
            <a:r>
              <a:rPr lang="en-US" sz="1100" dirty="0"/>
              <a:t>Prefers larger profits, even if they come much later.</a:t>
            </a:r>
          </a:p>
          <a:p>
            <a:r>
              <a:rPr lang="en-US" sz="1100" b="1" dirty="0"/>
              <a:t>Example:</a:t>
            </a:r>
            <a:endParaRPr lang="en-US" sz="1100" dirty="0"/>
          </a:p>
          <a:p>
            <a:r>
              <a:rPr lang="en-US" sz="1100" dirty="0"/>
              <a:t>Project A: Costs £100,000, returns £150,000 → Net profit = £50,000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Project B: Costs £20,000, returns £60,000 → Net profit = £40,000</a:t>
            </a:r>
            <a:br>
              <a:rPr lang="en-US" sz="1100" dirty="0"/>
            </a:br>
            <a:r>
              <a:rPr lang="en-US" sz="1100" dirty="0"/>
              <a:t> Project A has higher net profit, but B may still be better based on other factors.</a:t>
            </a:r>
          </a:p>
          <a:p>
            <a:endParaRPr lang="en-US" sz="11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4661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evaluation techniques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3852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1100" b="1" dirty="0"/>
          </a:p>
          <a:p>
            <a:r>
              <a:rPr lang="en-US" sz="1100" b="1" dirty="0"/>
              <a:t>2. Payback Period</a:t>
            </a:r>
          </a:p>
          <a:p>
            <a:r>
              <a:rPr lang="en-US" sz="1100" b="1" dirty="0"/>
              <a:t>Definition:</a:t>
            </a:r>
            <a:br>
              <a:rPr lang="en-US" sz="1100" dirty="0"/>
            </a:br>
            <a:r>
              <a:rPr lang="en-US" sz="1100" dirty="0"/>
              <a:t>The time taken to </a:t>
            </a:r>
            <a:r>
              <a:rPr lang="en-US" sz="1100" b="1" dirty="0"/>
              <a:t>recover the initial investment</a:t>
            </a:r>
            <a:r>
              <a:rPr lang="en-US" sz="1100" dirty="0"/>
              <a:t> (i.e., to "break even").</a:t>
            </a:r>
          </a:p>
          <a:p>
            <a:r>
              <a:rPr lang="en-US" sz="1100" b="1" dirty="0"/>
              <a:t>Why use it:</a:t>
            </a:r>
            <a:br>
              <a:rPr lang="en-US" sz="1100" dirty="0"/>
            </a:br>
            <a:r>
              <a:rPr lang="en-US" sz="1100" dirty="0"/>
              <a:t>Shorter payback period = quicker recovery = </a:t>
            </a:r>
            <a:r>
              <a:rPr lang="en-US" sz="1100" b="1" dirty="0"/>
              <a:t>less risk</a:t>
            </a:r>
            <a:r>
              <a:rPr lang="en-US" sz="1100" dirty="0"/>
              <a:t>.</a:t>
            </a:r>
          </a:p>
          <a:p>
            <a:r>
              <a:rPr lang="en-US" sz="1100" b="1" dirty="0"/>
              <a:t>Formula:</a:t>
            </a:r>
            <a:br>
              <a:rPr lang="en-US" sz="1100" dirty="0"/>
            </a:br>
            <a:r>
              <a:rPr lang="en-US" sz="1100" dirty="0"/>
              <a:t>Count the years until the </a:t>
            </a:r>
            <a:r>
              <a:rPr lang="en-US" sz="1100" b="1" dirty="0"/>
              <a:t>cumulative cash inflow</a:t>
            </a:r>
            <a:r>
              <a:rPr lang="en-US" sz="1100" dirty="0"/>
              <a:t> equals the </a:t>
            </a:r>
            <a:r>
              <a:rPr lang="en-US" sz="1100" b="1" dirty="0"/>
              <a:t>initial cost</a:t>
            </a:r>
            <a:r>
              <a:rPr lang="en-US" sz="1100" dirty="0"/>
              <a:t>.</a:t>
            </a:r>
          </a:p>
          <a:p>
            <a:r>
              <a:rPr lang="en-US" sz="1100" b="1" dirty="0"/>
              <a:t>Limitation:</a:t>
            </a:r>
            <a:endParaRPr lang="en-US" sz="1100" dirty="0"/>
          </a:p>
          <a:p>
            <a:r>
              <a:rPr lang="en-US" sz="1100" dirty="0"/>
              <a:t>Ignores total profit after break-even point.</a:t>
            </a:r>
          </a:p>
          <a:p>
            <a:r>
              <a:rPr lang="en-US" sz="1100" dirty="0"/>
              <a:t>Doesn't consider time value of money.</a:t>
            </a:r>
          </a:p>
          <a:p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835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evaluation techniques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3852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1100" b="1" dirty="0"/>
          </a:p>
          <a:p>
            <a:r>
              <a:rPr lang="en-US" sz="1100" b="1" dirty="0"/>
              <a:t>3. Return on Investment (ROI)</a:t>
            </a:r>
          </a:p>
          <a:p>
            <a:r>
              <a:rPr lang="en-US" sz="1100" b="1" dirty="0"/>
              <a:t>Formula:</a:t>
            </a:r>
            <a:endParaRPr lang="en-US" sz="1100" dirty="0"/>
          </a:p>
          <a:p>
            <a:r>
              <a:rPr lang="en-US" sz="1100" dirty="0"/>
              <a:t>ROI=(Average Annual Profit/Total Investment)×100</a:t>
            </a:r>
          </a:p>
          <a:p>
            <a:endParaRPr lang="en-US" sz="1100" b="1" dirty="0"/>
          </a:p>
          <a:p>
            <a:r>
              <a:rPr lang="en-US" sz="1100" b="1" dirty="0"/>
              <a:t>Why use it:</a:t>
            </a:r>
            <a:br>
              <a:rPr lang="en-US" sz="1100" dirty="0"/>
            </a:br>
            <a:r>
              <a:rPr lang="en-US" sz="1100" dirty="0"/>
              <a:t>Compares </a:t>
            </a:r>
            <a:r>
              <a:rPr lang="en-US" sz="1100" b="1" dirty="0"/>
              <a:t>profitability</a:t>
            </a:r>
            <a:r>
              <a:rPr lang="en-US" sz="1100" dirty="0"/>
              <a:t> relative to how much you spent.</a:t>
            </a:r>
            <a:br>
              <a:rPr lang="en-US" sz="1100" dirty="0"/>
            </a:br>
            <a:r>
              <a:rPr lang="en-US" sz="1100" dirty="0"/>
              <a:t>Higher ROI = better efficiency of investment.</a:t>
            </a:r>
          </a:p>
          <a:p>
            <a:r>
              <a:rPr lang="en-US" sz="1100" b="1" dirty="0"/>
              <a:t>Limitation:</a:t>
            </a:r>
            <a:endParaRPr lang="en-US" sz="1100" dirty="0"/>
          </a:p>
          <a:p>
            <a:r>
              <a:rPr lang="en-US" sz="1100" dirty="0"/>
              <a:t>Ignores </a:t>
            </a:r>
            <a:r>
              <a:rPr lang="en-US" sz="1100" b="1" dirty="0"/>
              <a:t>timing</a:t>
            </a:r>
            <a:r>
              <a:rPr lang="en-US" sz="1100" dirty="0"/>
              <a:t> of cash flows.</a:t>
            </a:r>
          </a:p>
          <a:p>
            <a:r>
              <a:rPr lang="en-US" sz="1100" dirty="0"/>
              <a:t>Doesn't reflect project risk.</a:t>
            </a:r>
          </a:p>
          <a:p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71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evaluation techniques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17081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1100" b="1" dirty="0"/>
          </a:p>
          <a:p>
            <a:r>
              <a:rPr lang="en-US" sz="1100" b="1" dirty="0"/>
              <a:t>3. Net Present Value (NPV)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NPV is a method to measure how profitable a project is by considering: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The money you will earn from the project in the future.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The cost of the project today.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The fact that money loses value over time (because of inflation, risk, etc.).</a:t>
            </a:r>
          </a:p>
          <a:p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E925D9-3C16-4B04-988A-979736CC0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93" y="1911755"/>
            <a:ext cx="298132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458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evaluation techniques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046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1100" b="1" dirty="0"/>
          </a:p>
          <a:p>
            <a:r>
              <a:rPr lang="en-US" sz="1100" dirty="0"/>
              <a:t>Simple Idea: NPV is a financial calculation that helps us decide if a project is a good investment by figuring out if the money we expect to gain from it in the future is worth more than the money we have to spend on it today.</a:t>
            </a:r>
          </a:p>
          <a:p>
            <a:endParaRPr lang="en-US" sz="1100" dirty="0"/>
          </a:p>
          <a:p>
            <a:r>
              <a:rPr lang="en-US" sz="1100" dirty="0"/>
              <a:t>The Goal: It converts all future money (cash inflows and outflows) into what it would be worth today.</a:t>
            </a:r>
            <a:endParaRPr lang="en-US" sz="1200" dirty="0"/>
          </a:p>
          <a:p>
            <a:endParaRPr lang="en-US" sz="1200" dirty="0"/>
          </a:p>
          <a:p>
            <a:r>
              <a:rPr lang="en-US" sz="1100" dirty="0"/>
              <a:t>“NPV shows if a project is really worth it by comparing future earnings to today’s cost.”</a:t>
            </a:r>
            <a:endParaRPr lang="en-US" altLang="zh-CN" sz="1100" spc="-20" dirty="0">
              <a:latin typeface="Times New Roman"/>
              <a:ea typeface="Times New Roman"/>
            </a:endParaRP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6376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evaluation techniques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1100" b="1" dirty="0"/>
          </a:p>
          <a:p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1C7974-2F65-4997-94B7-D0C001C8C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77" y="431585"/>
            <a:ext cx="4513252" cy="87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242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evaluation techniques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1100" b="1" dirty="0"/>
          </a:p>
          <a:p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D09F03-A5EF-416C-BB73-DCFB8D1B8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9650"/>
            <a:ext cx="4608513" cy="219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0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evaluation techniques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-169077" y="554474"/>
            <a:ext cx="4431695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1" algn="just" fontAlgn="base"/>
            <a:r>
              <a:rPr lang="en-US" sz="1100" dirty="0"/>
              <a:t>Internal Rate of Return (IRR) is the discount rate at which the Net  Present Value (NPV) of all cash flows from a project becomes zero.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E2AF6C-8DE1-42A1-9FCC-EC168C09C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67" y="1154190"/>
            <a:ext cx="3476231" cy="183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16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Evaluation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Risk Identification and Ranking</a:t>
            </a:r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B68EF7-5675-45D0-8B34-D0F734097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9514"/>
            <a:ext cx="4608513" cy="177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946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Profile Analysis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1100" b="1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2441FB-438E-420D-975E-0AB1060C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9326"/>
            <a:ext cx="4608513" cy="269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70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5391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US" sz="1100" b="1" dirty="0"/>
              <a:t>What is a Decision Tree?</a:t>
            </a:r>
          </a:p>
          <a:p>
            <a:pPr algn="just"/>
            <a:endParaRPr lang="en-US" sz="1100" b="1" dirty="0"/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A visual and analytical tool used to evaluate </a:t>
            </a:r>
            <a:r>
              <a:rPr lang="en-US" sz="1100" b="1" dirty="0"/>
              <a:t>different choices</a:t>
            </a:r>
            <a:r>
              <a:rPr lang="en-US" sz="1100" dirty="0"/>
              <a:t> under uncertainty.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Helps in making </a:t>
            </a:r>
            <a:r>
              <a:rPr lang="en-US" sz="1100" b="1" dirty="0"/>
              <a:t>informed decisions</a:t>
            </a:r>
            <a:r>
              <a:rPr lang="en-US" sz="1100" dirty="0"/>
              <a:t> based on possible outcomes and </a:t>
            </a:r>
            <a:r>
              <a:rPr lang="en-US" sz="1100" b="1" dirty="0"/>
              <a:t>associated probabilities</a:t>
            </a:r>
            <a:r>
              <a:rPr lang="en-US" sz="1100" dirty="0"/>
              <a:t>.</a:t>
            </a:r>
          </a:p>
          <a:p>
            <a:endParaRPr lang="en-US" altLang="zh-CN" sz="1100" spc="-20" dirty="0">
              <a:latin typeface="Times New Roman"/>
              <a:ea typeface="Times New Roman"/>
            </a:endParaRPr>
          </a:p>
          <a:p>
            <a:r>
              <a:rPr lang="en-US" sz="1100" b="1" dirty="0"/>
              <a:t>Why Use Decision Trees in Project Evaluation?</a:t>
            </a:r>
          </a:p>
          <a:p>
            <a:endParaRPr lang="en-US" sz="1100" b="1" dirty="0"/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To </a:t>
            </a:r>
            <a:r>
              <a:rPr lang="en-US" sz="1100" b="1" dirty="0"/>
              <a:t>assess risk</a:t>
            </a:r>
            <a:r>
              <a:rPr lang="en-US" sz="1100" dirty="0"/>
              <a:t> in uncertain conditions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To compare </a:t>
            </a:r>
            <a:r>
              <a:rPr lang="en-US" sz="1100" b="1" dirty="0"/>
              <a:t>expected Net Present Values (NPVs)</a:t>
            </a:r>
            <a:r>
              <a:rPr lang="en-US" sz="1100" dirty="0"/>
              <a:t> of different strategies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To consider both </a:t>
            </a:r>
            <a:r>
              <a:rPr lang="en-US" sz="1100" b="1" dirty="0"/>
              <a:t>probability</a:t>
            </a:r>
            <a:r>
              <a:rPr lang="en-US" sz="1100" dirty="0"/>
              <a:t> and </a:t>
            </a:r>
            <a:r>
              <a:rPr lang="en-US" sz="1100" b="1" dirty="0"/>
              <a:t>impact</a:t>
            </a:r>
            <a:r>
              <a:rPr lang="en-US" sz="1100" dirty="0"/>
              <a:t> of each outcome</a:t>
            </a:r>
          </a:p>
          <a:p>
            <a:endParaRPr lang="en-US" altLang="zh-CN" sz="1100" spc="-20" dirty="0">
              <a:latin typeface="Times New Roman"/>
              <a:ea typeface="Times New Roman"/>
            </a:endParaRP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295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altLang="zh-CN" sz="1100" spc="-20" dirty="0">
              <a:latin typeface="Times New Roman"/>
              <a:ea typeface="Times New Roman"/>
            </a:endParaRP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D0AAF2-9232-4599-8CFA-2C06A5E4E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41733"/>
            <a:ext cx="4262618" cy="276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61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031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Structure of the Decision Tree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Decision Node (■) – The square at the start represents the choice between "Extend" or "Replace".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From each decision, you branch out to Chance Nodes (●), which represent uncertainty: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e.g., "Market expands" (with 20% probability)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or "Market does not expand" (with 80% probability)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Each path leads to an Outcome Value (NPV) — the financial result of that situation.</a:t>
            </a:r>
          </a:p>
          <a:p>
            <a:endParaRPr lang="en-US" altLang="zh-CN" sz="1100" spc="-20" dirty="0">
              <a:latin typeface="Times New Roman"/>
              <a:ea typeface="Times New Roman"/>
            </a:endParaRP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5070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200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b="1" dirty="0"/>
              <a:t>Option A: Extend system</a:t>
            </a:r>
          </a:p>
          <a:p>
            <a:endParaRPr lang="en-IN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If market expands (20% chance): NPV = –£100,000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If market does not expand (80% chance): NPV = £75,000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Expected Value: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(0.2×−100,000)+(0.8×75,000)=−20,000+60,000=£40,000 </a:t>
            </a:r>
          </a:p>
          <a:p>
            <a:endParaRPr lang="en-US" altLang="zh-CN" sz="1100" spc="-20" dirty="0">
              <a:latin typeface="Times New Roman"/>
              <a:ea typeface="Times New Roman"/>
            </a:endParaRPr>
          </a:p>
          <a:p>
            <a:r>
              <a:rPr lang="en-IN" sz="1100" b="1" dirty="0"/>
              <a:t>Option B: Replace system</a:t>
            </a:r>
            <a:endParaRPr lang="en-IN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If market expands (20% chance): NPV = £250,000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If market does not expand (80% chance): NPV = –£50,000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Expected Value: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(0.2×250,000)+(0.8×−50,000)=50,000−40,000=£10,000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9514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Tree-based Approach</a:t>
            </a: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E74161-4697-41E1-98F3-9686136D2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40" y="426499"/>
            <a:ext cx="4211654" cy="284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87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1692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b="1" dirty="0"/>
              <a:t>D1 – Initial Decision:</a:t>
            </a:r>
          </a:p>
          <a:p>
            <a:pPr lvl="0"/>
            <a:r>
              <a:rPr lang="en-IN" sz="1100" dirty="0"/>
              <a:t>Extend the current system</a:t>
            </a:r>
          </a:p>
          <a:p>
            <a:pPr lvl="0"/>
            <a:r>
              <a:rPr lang="en-IN" sz="1100" dirty="0"/>
              <a:t>Replace the system with a new one</a:t>
            </a:r>
          </a:p>
          <a:p>
            <a:pPr lvl="0"/>
            <a:endParaRPr lang="en-US" sz="1100" dirty="0"/>
          </a:p>
          <a:p>
            <a:r>
              <a:rPr lang="en-IN" sz="1100" b="1" dirty="0"/>
              <a:t> If Replaces:</a:t>
            </a:r>
          </a:p>
          <a:p>
            <a:pPr lvl="0"/>
            <a:r>
              <a:rPr lang="en-IN" sz="1100" dirty="0"/>
              <a:t>20% chance that the market expands ⇒ </a:t>
            </a:r>
            <a:r>
              <a:rPr lang="en-IN" sz="1100" b="1" dirty="0"/>
              <a:t>NPV = £250,000</a:t>
            </a:r>
            <a:endParaRPr lang="en-IN" sz="1100" dirty="0"/>
          </a:p>
          <a:p>
            <a:pPr lvl="0"/>
            <a:r>
              <a:rPr lang="en-IN" sz="1100" dirty="0"/>
              <a:t>80% chance of no expansion ⇒ </a:t>
            </a:r>
            <a:r>
              <a:rPr lang="en-IN" sz="1100" b="1" dirty="0"/>
              <a:t>NPV = –£50,000</a:t>
            </a:r>
            <a:endParaRPr lang="en-IN" sz="1100" dirty="0"/>
          </a:p>
          <a:p>
            <a:r>
              <a:rPr lang="en-IN" sz="1100" b="1" dirty="0"/>
              <a:t>Expected NPV from Replace:</a:t>
            </a:r>
            <a:endParaRPr lang="en-IN" sz="1100" dirty="0"/>
          </a:p>
          <a:p>
            <a:r>
              <a:rPr lang="en-IN" sz="1100" dirty="0"/>
              <a:t>(0.2×250,000)+(0.8×(−50,000))=50,000−40,000=£10,000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6476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5391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b="1" dirty="0"/>
              <a:t>If Extends:</a:t>
            </a:r>
          </a:p>
          <a:p>
            <a:r>
              <a:rPr lang="en-IN" sz="1100" dirty="0"/>
              <a:t>First, market outcome is observed:</a:t>
            </a:r>
          </a:p>
          <a:p>
            <a:r>
              <a:rPr lang="en-IN" sz="1100" b="1" dirty="0"/>
              <a:t>Case 1: Early Market Expansion (10% chance)</a:t>
            </a:r>
          </a:p>
          <a:p>
            <a:r>
              <a:rPr lang="en-IN" sz="1100" dirty="0"/>
              <a:t>→ Go to </a:t>
            </a:r>
            <a:r>
              <a:rPr lang="en-IN" sz="1100" b="1" dirty="0"/>
              <a:t>Decision Point D2</a:t>
            </a:r>
            <a:r>
              <a:rPr lang="en-IN" sz="1100" dirty="0"/>
              <a:t>:</a:t>
            </a:r>
          </a:p>
          <a:p>
            <a:pPr lvl="0"/>
            <a:r>
              <a:rPr lang="en-IN" sz="1100" dirty="0"/>
              <a:t>Amanda can now choose to:</a:t>
            </a:r>
          </a:p>
          <a:p>
            <a:pPr lvl="1"/>
            <a:r>
              <a:rPr lang="en-IN" sz="1100" b="1" dirty="0"/>
              <a:t>Continue Extension</a:t>
            </a:r>
            <a:r>
              <a:rPr lang="en-IN" sz="1100" dirty="0"/>
              <a:t>:</a:t>
            </a:r>
          </a:p>
          <a:p>
            <a:pPr lvl="2"/>
            <a:r>
              <a:rPr lang="en-IN" sz="1100" dirty="0"/>
              <a:t>50% chance: </a:t>
            </a:r>
            <a:r>
              <a:rPr lang="en-IN" sz="1100" b="1" dirty="0"/>
              <a:t>Further Expansion</a:t>
            </a:r>
            <a:r>
              <a:rPr lang="en-IN" sz="1100" dirty="0"/>
              <a:t> → NPV = –£100,000</a:t>
            </a:r>
          </a:p>
          <a:p>
            <a:pPr lvl="2"/>
            <a:r>
              <a:rPr lang="en-IN" sz="1100" dirty="0"/>
              <a:t>50% chance: </a:t>
            </a:r>
            <a:r>
              <a:rPr lang="en-IN" sz="1100" b="1" dirty="0"/>
              <a:t>No further expansion</a:t>
            </a:r>
            <a:r>
              <a:rPr lang="en-IN" sz="1100" dirty="0"/>
              <a:t> → NPV = £80,000</a:t>
            </a:r>
          </a:p>
          <a:p>
            <a:pPr lvl="2"/>
            <a:r>
              <a:rPr lang="en-IN" sz="1100" dirty="0"/>
              <a:t>Expected Value:</a:t>
            </a:r>
          </a:p>
          <a:p>
            <a:r>
              <a:rPr lang="en-IN" sz="1100" dirty="0"/>
              <a:t>0.5×(−100,000)+0.5×80,000=−50,000+40,000=−£10000</a:t>
            </a:r>
          </a:p>
          <a:p>
            <a:r>
              <a:rPr lang="en-IN" sz="1100" b="1" dirty="0"/>
              <a:t>Abandon and Replace</a:t>
            </a:r>
            <a:r>
              <a:rPr lang="en-IN" sz="1100" dirty="0"/>
              <a:t>:</a:t>
            </a:r>
          </a:p>
          <a:p>
            <a:pPr lvl="2"/>
            <a:r>
              <a:rPr lang="en-IN" sz="1100" dirty="0"/>
              <a:t>50% chance: </a:t>
            </a:r>
            <a:r>
              <a:rPr lang="en-IN" sz="1100" b="1" dirty="0"/>
              <a:t>Further Expansion</a:t>
            </a:r>
            <a:r>
              <a:rPr lang="en-IN" sz="1100" dirty="0"/>
              <a:t> → NPV = £200,000</a:t>
            </a:r>
          </a:p>
          <a:p>
            <a:pPr lvl="2"/>
            <a:r>
              <a:rPr lang="en-IN" sz="1100" dirty="0"/>
              <a:t>50% chance: </a:t>
            </a:r>
            <a:r>
              <a:rPr lang="en-IN" sz="1100" b="1" dirty="0"/>
              <a:t>No further expansion</a:t>
            </a:r>
            <a:r>
              <a:rPr lang="en-IN" sz="1100" dirty="0"/>
              <a:t> → NPV = –£30,000</a:t>
            </a:r>
          </a:p>
          <a:p>
            <a:pPr lvl="2"/>
            <a:r>
              <a:rPr lang="en-IN" sz="1100" dirty="0"/>
              <a:t>Expected Value:</a:t>
            </a:r>
          </a:p>
          <a:p>
            <a:r>
              <a:rPr lang="en-IN" sz="1100" dirty="0"/>
              <a:t>0.5×200,000+0.5×(−30,000)=100,000−15,000=£85,000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996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So at D2, the decision will  be </a:t>
            </a:r>
            <a:r>
              <a:rPr lang="en-IN" sz="1100" b="1" dirty="0"/>
              <a:t>Abandon and Replace.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1" dirty="0"/>
          </a:p>
          <a:p>
            <a:endParaRPr lang="en-IN" sz="1100" b="1" dirty="0"/>
          </a:p>
          <a:p>
            <a:r>
              <a:rPr lang="en-IN" sz="1100" b="1" dirty="0"/>
              <a:t>Case 2: No Early Expansion (90% chance)</a:t>
            </a:r>
          </a:p>
          <a:p>
            <a:pPr lvl="0"/>
            <a:r>
              <a:rPr lang="en-IN" sz="1100" dirty="0"/>
              <a:t>10% chance market expands later → NPV = –£100,000</a:t>
            </a:r>
          </a:p>
          <a:p>
            <a:pPr lvl="0"/>
            <a:r>
              <a:rPr lang="en-IN" sz="1100" dirty="0"/>
              <a:t>90% chance it doesn’t → NPV = £75,000</a:t>
            </a:r>
          </a:p>
          <a:p>
            <a:pPr lvl="0"/>
            <a:r>
              <a:rPr lang="en-IN" sz="1100" dirty="0"/>
              <a:t>Expected Value:</a:t>
            </a:r>
          </a:p>
          <a:p>
            <a:r>
              <a:rPr lang="en-IN" sz="1100" dirty="0"/>
              <a:t>0.1×(−100,000)+0.9×75,000=−10,000+67,500=£57,500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9427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Tree-based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b="1" dirty="0"/>
              <a:t>Final Expected Value for “Extend” Option:</a:t>
            </a:r>
          </a:p>
          <a:p>
            <a:r>
              <a:rPr lang="en-IN" sz="1100" dirty="0"/>
              <a:t>Now combine both branches (from Extend):</a:t>
            </a:r>
          </a:p>
          <a:p>
            <a:pPr lvl="0"/>
            <a:r>
              <a:rPr lang="en-IN" sz="1100" dirty="0"/>
              <a:t>10% chance of Early Expansion → best option is Abandon &amp; Replace = </a:t>
            </a:r>
            <a:r>
              <a:rPr lang="en-IN" sz="1100" b="1" dirty="0"/>
              <a:t>£85,000</a:t>
            </a:r>
            <a:endParaRPr lang="en-IN" sz="1100" dirty="0"/>
          </a:p>
          <a:p>
            <a:pPr lvl="0"/>
            <a:r>
              <a:rPr lang="en-IN" sz="1100" dirty="0"/>
              <a:t>90% chance of No Early Expansion → </a:t>
            </a:r>
            <a:r>
              <a:rPr lang="en-IN" sz="1100" b="1" dirty="0"/>
              <a:t>£57,500</a:t>
            </a:r>
            <a:endParaRPr lang="en-IN" sz="1100" dirty="0"/>
          </a:p>
          <a:p>
            <a:r>
              <a:rPr lang="en-IN" sz="1100" dirty="0"/>
              <a:t>(0.1×85,000)+(0.9×57,500)=8,500+51,750=£60,250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590630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19070</TotalTime>
  <Words>1821</Words>
  <Application>Microsoft Office PowerPoint</Application>
  <PresentationFormat>Custom</PresentationFormat>
  <Paragraphs>256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宋体</vt:lpstr>
      <vt:lpstr>Arial</vt:lpstr>
      <vt:lpstr>Calibri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Sindhu Alapati</dc:creator>
  <cp:lastModifiedBy>sindhu</cp:lastModifiedBy>
  <cp:revision>766</cp:revision>
  <dcterms:created xsi:type="dcterms:W3CDTF">2011-01-21T15:00:27Z</dcterms:created>
  <dcterms:modified xsi:type="dcterms:W3CDTF">2025-07-03T06:53:51Z</dcterms:modified>
</cp:coreProperties>
</file>