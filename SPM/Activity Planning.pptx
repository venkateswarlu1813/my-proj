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6"/>
  </p:notesMasterIdLst>
  <p:sldIdLst>
    <p:sldId id="344" r:id="rId2"/>
    <p:sldId id="606" r:id="rId3"/>
    <p:sldId id="732" r:id="rId4"/>
    <p:sldId id="733" r:id="rId5"/>
    <p:sldId id="734" r:id="rId6"/>
    <p:sldId id="735" r:id="rId7"/>
    <p:sldId id="736" r:id="rId8"/>
    <p:sldId id="737" r:id="rId9"/>
    <p:sldId id="738" r:id="rId10"/>
    <p:sldId id="739" r:id="rId11"/>
    <p:sldId id="740" r:id="rId12"/>
    <p:sldId id="741" r:id="rId13"/>
    <p:sldId id="742" r:id="rId14"/>
    <p:sldId id="743" r:id="rId15"/>
    <p:sldId id="744" r:id="rId16"/>
    <p:sldId id="745" r:id="rId17"/>
    <p:sldId id="746" r:id="rId18"/>
    <p:sldId id="747" r:id="rId19"/>
    <p:sldId id="748" r:id="rId20"/>
    <p:sldId id="749" r:id="rId21"/>
    <p:sldId id="750" r:id="rId22"/>
    <p:sldId id="752" r:id="rId23"/>
    <p:sldId id="753" r:id="rId24"/>
    <p:sldId id="754" r:id="rId25"/>
    <p:sldId id="755" r:id="rId26"/>
    <p:sldId id="756" r:id="rId27"/>
    <p:sldId id="757" r:id="rId28"/>
    <p:sldId id="758" r:id="rId29"/>
    <p:sldId id="759" r:id="rId30"/>
    <p:sldId id="760" r:id="rId31"/>
    <p:sldId id="761" r:id="rId32"/>
    <p:sldId id="762" r:id="rId33"/>
    <p:sldId id="763" r:id="rId34"/>
    <p:sldId id="764" r:id="rId35"/>
    <p:sldId id="765" r:id="rId36"/>
    <p:sldId id="766" r:id="rId37"/>
    <p:sldId id="767" r:id="rId38"/>
    <p:sldId id="768" r:id="rId39"/>
    <p:sldId id="769" r:id="rId40"/>
    <p:sldId id="770" r:id="rId41"/>
    <p:sldId id="771" r:id="rId42"/>
    <p:sldId id="772" r:id="rId43"/>
    <p:sldId id="773" r:id="rId44"/>
    <p:sldId id="774" r:id="rId45"/>
  </p:sldIdLst>
  <p:sldSz cx="4608513" cy="3455988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T AP" initials="NA" lastIdx="1" clrIdx="0">
    <p:extLst>
      <p:ext uri="{19B8F6BF-5375-455C-9EA6-DF929625EA0E}">
        <p15:presenceInfo xmlns:p15="http://schemas.microsoft.com/office/powerpoint/2012/main" userId="NIT A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646B9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4660"/>
  </p:normalViewPr>
  <p:slideViewPr>
    <p:cSldViewPr snapToGrid="0" snapToObjects="1">
      <p:cViewPr varScale="1">
        <p:scale>
          <a:sx n="125" d="100"/>
          <a:sy n="125" d="100"/>
        </p:scale>
        <p:origin x="1272" y="10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DB7802-094E-4307-A812-AC720EB39FB3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AA1D91-3FC5-4706-942A-2EB178407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065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419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8239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71016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4414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6066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35797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7559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68674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02287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62557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32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78907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5823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59536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94426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74279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63265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62799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29741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74963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47972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81137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11119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02262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98671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09373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39471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571541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9243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331416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97019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779312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799753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926860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009398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316992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989147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933297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578192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402721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816996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459203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3269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1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1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66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3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67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34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01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6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35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4F96-94B7-463C-9FD0-A63BBE3D5E91}" type="datetime1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997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86B5-C70E-44B5-AD82-94D4AFCC796C}" type="datetime1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668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4" y="4406901"/>
            <a:ext cx="7772400" cy="1362075"/>
          </a:xfrm>
        </p:spPr>
        <p:txBody>
          <a:bodyPr anchor="t"/>
          <a:lstStyle>
            <a:lvl1pPr algn="l">
              <a:defRPr sz="399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4" y="2906714"/>
            <a:ext cx="7772400" cy="1500187"/>
          </a:xfrm>
        </p:spPr>
        <p:txBody>
          <a:bodyPr anchor="b"/>
          <a:lstStyle>
            <a:lvl1pPr marL="0" indent="0">
              <a:buNone/>
              <a:defRPr sz="1998">
                <a:solidFill>
                  <a:schemeClr val="tx1">
                    <a:tint val="75000"/>
                  </a:schemeClr>
                </a:solidFill>
              </a:defRPr>
            </a:lvl1pPr>
            <a:lvl2pPr marL="456697" indent="0">
              <a:buNone/>
              <a:defRPr sz="1798">
                <a:solidFill>
                  <a:schemeClr val="tx1">
                    <a:tint val="75000"/>
                  </a:schemeClr>
                </a:solidFill>
              </a:defRPr>
            </a:lvl2pPr>
            <a:lvl3pPr marL="913393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3pPr>
            <a:lvl4pPr marL="1370090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4pPr>
            <a:lvl5pPr marL="1826788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5pPr>
            <a:lvl6pPr marL="2283485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6pPr>
            <a:lvl7pPr marL="2740181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7pPr>
            <a:lvl8pPr marL="3196878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8pPr>
            <a:lvl9pPr marL="3653575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5DC4F-0DC8-4D33-B19A-B6FAFD3868A6}" type="datetime1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540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797"/>
            </a:lvl1pPr>
            <a:lvl2pPr>
              <a:defRPr sz="2398"/>
            </a:lvl2pPr>
            <a:lvl3pPr>
              <a:defRPr sz="1998"/>
            </a:lvl3pPr>
            <a:lvl4pPr>
              <a:defRPr sz="1798"/>
            </a:lvl4pPr>
            <a:lvl5pPr>
              <a:defRPr sz="1798"/>
            </a:lvl5pPr>
            <a:lvl6pPr>
              <a:defRPr sz="1798"/>
            </a:lvl6pPr>
            <a:lvl7pPr>
              <a:defRPr sz="1798"/>
            </a:lvl7pPr>
            <a:lvl8pPr>
              <a:defRPr sz="1798"/>
            </a:lvl8pPr>
            <a:lvl9pPr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1" y="1600201"/>
            <a:ext cx="4038600" cy="4525963"/>
          </a:xfrm>
        </p:spPr>
        <p:txBody>
          <a:bodyPr/>
          <a:lstStyle>
            <a:lvl1pPr>
              <a:defRPr sz="2797"/>
            </a:lvl1pPr>
            <a:lvl2pPr>
              <a:defRPr sz="2398"/>
            </a:lvl2pPr>
            <a:lvl3pPr>
              <a:defRPr sz="1998"/>
            </a:lvl3pPr>
            <a:lvl4pPr>
              <a:defRPr sz="1798"/>
            </a:lvl4pPr>
            <a:lvl5pPr>
              <a:defRPr sz="1798"/>
            </a:lvl5pPr>
            <a:lvl6pPr>
              <a:defRPr sz="1798"/>
            </a:lvl6pPr>
            <a:lvl7pPr>
              <a:defRPr sz="1798"/>
            </a:lvl7pPr>
            <a:lvl8pPr>
              <a:defRPr sz="1798"/>
            </a:lvl8pPr>
            <a:lvl9pPr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22916-D7E6-4A6A-8710-06D3C4413E3B}" type="datetime1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541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697" indent="0">
              <a:buNone/>
              <a:defRPr sz="1998" b="1"/>
            </a:lvl2pPr>
            <a:lvl3pPr marL="913393" indent="0">
              <a:buNone/>
              <a:defRPr sz="1798" b="1"/>
            </a:lvl3pPr>
            <a:lvl4pPr marL="1370090" indent="0">
              <a:buNone/>
              <a:defRPr sz="1598" b="1"/>
            </a:lvl4pPr>
            <a:lvl5pPr marL="1826788" indent="0">
              <a:buNone/>
              <a:defRPr sz="1598" b="1"/>
            </a:lvl5pPr>
            <a:lvl6pPr marL="2283485" indent="0">
              <a:buNone/>
              <a:defRPr sz="1598" b="1"/>
            </a:lvl6pPr>
            <a:lvl7pPr marL="2740181" indent="0">
              <a:buNone/>
              <a:defRPr sz="1598" b="1"/>
            </a:lvl7pPr>
            <a:lvl8pPr marL="3196878" indent="0">
              <a:buNone/>
              <a:defRPr sz="1598" b="1"/>
            </a:lvl8pPr>
            <a:lvl9pPr marL="3653575" indent="0">
              <a:buNone/>
              <a:defRPr sz="15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398"/>
            </a:lvl1pPr>
            <a:lvl2pPr>
              <a:defRPr sz="1998"/>
            </a:lvl2pPr>
            <a:lvl3pPr>
              <a:defRPr sz="1798"/>
            </a:lvl3pPr>
            <a:lvl4pPr>
              <a:defRPr sz="1598"/>
            </a:lvl4pPr>
            <a:lvl5pPr>
              <a:defRPr sz="1598"/>
            </a:lvl5pPr>
            <a:lvl6pPr>
              <a:defRPr sz="1598"/>
            </a:lvl6pPr>
            <a:lvl7pPr>
              <a:defRPr sz="1598"/>
            </a:lvl7pPr>
            <a:lvl8pPr>
              <a:defRPr sz="1598"/>
            </a:lvl8pPr>
            <a:lvl9pPr>
              <a:defRPr sz="15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697" indent="0">
              <a:buNone/>
              <a:defRPr sz="1998" b="1"/>
            </a:lvl2pPr>
            <a:lvl3pPr marL="913393" indent="0">
              <a:buNone/>
              <a:defRPr sz="1798" b="1"/>
            </a:lvl3pPr>
            <a:lvl4pPr marL="1370090" indent="0">
              <a:buNone/>
              <a:defRPr sz="1598" b="1"/>
            </a:lvl4pPr>
            <a:lvl5pPr marL="1826788" indent="0">
              <a:buNone/>
              <a:defRPr sz="1598" b="1"/>
            </a:lvl5pPr>
            <a:lvl6pPr marL="2283485" indent="0">
              <a:buNone/>
              <a:defRPr sz="1598" b="1"/>
            </a:lvl6pPr>
            <a:lvl7pPr marL="2740181" indent="0">
              <a:buNone/>
              <a:defRPr sz="1598" b="1"/>
            </a:lvl7pPr>
            <a:lvl8pPr marL="3196878" indent="0">
              <a:buNone/>
              <a:defRPr sz="1598" b="1"/>
            </a:lvl8pPr>
            <a:lvl9pPr marL="3653575" indent="0">
              <a:buNone/>
              <a:defRPr sz="15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398"/>
            </a:lvl1pPr>
            <a:lvl2pPr>
              <a:defRPr sz="1998"/>
            </a:lvl2pPr>
            <a:lvl3pPr>
              <a:defRPr sz="1798"/>
            </a:lvl3pPr>
            <a:lvl4pPr>
              <a:defRPr sz="1598"/>
            </a:lvl4pPr>
            <a:lvl5pPr>
              <a:defRPr sz="1598"/>
            </a:lvl5pPr>
            <a:lvl6pPr>
              <a:defRPr sz="1598"/>
            </a:lvl6pPr>
            <a:lvl7pPr>
              <a:defRPr sz="1598"/>
            </a:lvl7pPr>
            <a:lvl8pPr>
              <a:defRPr sz="1598"/>
            </a:lvl8pPr>
            <a:lvl9pPr>
              <a:defRPr sz="15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B9D93-06BC-495C-8E81-00767E992687}" type="datetime1">
              <a:rPr lang="en-US" smtClean="0"/>
              <a:t>7/24/2025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588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FBE6-780D-4C9B-B5A6-8A4D6CBAB732}" type="datetime1">
              <a:rPr lang="en-US" smtClean="0"/>
              <a:t>7/24/2025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542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2716-A65A-44CF-B1C8-1E98812BC267}" type="datetime1">
              <a:rPr lang="en-US" smtClean="0"/>
              <a:t>7/24/2025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003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99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197"/>
            </a:lvl1pPr>
            <a:lvl2pPr>
              <a:defRPr sz="2797"/>
            </a:lvl2pPr>
            <a:lvl3pPr>
              <a:defRPr sz="2398"/>
            </a:lvl3pPr>
            <a:lvl4pPr>
              <a:defRPr sz="1998"/>
            </a:lvl4pPr>
            <a:lvl5pPr>
              <a:defRPr sz="1998"/>
            </a:lvl5pPr>
            <a:lvl6pPr>
              <a:defRPr sz="1998"/>
            </a:lvl6pPr>
            <a:lvl7pPr>
              <a:defRPr sz="1998"/>
            </a:lvl7pPr>
            <a:lvl8pPr>
              <a:defRPr sz="1998"/>
            </a:lvl8pPr>
            <a:lvl9pPr>
              <a:defRPr sz="19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398"/>
            </a:lvl1pPr>
            <a:lvl2pPr marL="456697" indent="0">
              <a:buNone/>
              <a:defRPr sz="1198"/>
            </a:lvl2pPr>
            <a:lvl3pPr marL="913393" indent="0">
              <a:buNone/>
              <a:defRPr sz="999"/>
            </a:lvl3pPr>
            <a:lvl4pPr marL="1370090" indent="0">
              <a:buNone/>
              <a:defRPr sz="899"/>
            </a:lvl4pPr>
            <a:lvl5pPr marL="1826788" indent="0">
              <a:buNone/>
              <a:defRPr sz="899"/>
            </a:lvl5pPr>
            <a:lvl6pPr marL="2283485" indent="0">
              <a:buNone/>
              <a:defRPr sz="899"/>
            </a:lvl6pPr>
            <a:lvl7pPr marL="2740181" indent="0">
              <a:buNone/>
              <a:defRPr sz="899"/>
            </a:lvl7pPr>
            <a:lvl8pPr marL="3196878" indent="0">
              <a:buNone/>
              <a:defRPr sz="899"/>
            </a:lvl8pPr>
            <a:lvl9pPr marL="3653575" indent="0">
              <a:buNone/>
              <a:defRPr sz="8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7CA44-A91E-452A-BD59-A23D8632BC32}" type="datetime1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05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199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197"/>
            </a:lvl1pPr>
            <a:lvl2pPr marL="456697" indent="0">
              <a:buNone/>
              <a:defRPr sz="2797"/>
            </a:lvl2pPr>
            <a:lvl3pPr marL="913393" indent="0">
              <a:buNone/>
              <a:defRPr sz="2398"/>
            </a:lvl3pPr>
            <a:lvl4pPr marL="1370090" indent="0">
              <a:buNone/>
              <a:defRPr sz="1998"/>
            </a:lvl4pPr>
            <a:lvl5pPr marL="1826788" indent="0">
              <a:buNone/>
              <a:defRPr sz="1998"/>
            </a:lvl5pPr>
            <a:lvl6pPr marL="2283485" indent="0">
              <a:buNone/>
              <a:defRPr sz="1998"/>
            </a:lvl6pPr>
            <a:lvl7pPr marL="2740181" indent="0">
              <a:buNone/>
              <a:defRPr sz="1998"/>
            </a:lvl7pPr>
            <a:lvl8pPr marL="3196878" indent="0">
              <a:buNone/>
              <a:defRPr sz="1998"/>
            </a:lvl8pPr>
            <a:lvl9pPr marL="3653575" indent="0">
              <a:buNone/>
              <a:defRPr sz="1998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398"/>
            </a:lvl1pPr>
            <a:lvl2pPr marL="456697" indent="0">
              <a:buNone/>
              <a:defRPr sz="1198"/>
            </a:lvl2pPr>
            <a:lvl3pPr marL="913393" indent="0">
              <a:buNone/>
              <a:defRPr sz="999"/>
            </a:lvl3pPr>
            <a:lvl4pPr marL="1370090" indent="0">
              <a:buNone/>
              <a:defRPr sz="899"/>
            </a:lvl4pPr>
            <a:lvl5pPr marL="1826788" indent="0">
              <a:buNone/>
              <a:defRPr sz="899"/>
            </a:lvl5pPr>
            <a:lvl6pPr marL="2283485" indent="0">
              <a:buNone/>
              <a:defRPr sz="899"/>
            </a:lvl6pPr>
            <a:lvl7pPr marL="2740181" indent="0">
              <a:buNone/>
              <a:defRPr sz="899"/>
            </a:lvl7pPr>
            <a:lvl8pPr marL="3196878" indent="0">
              <a:buNone/>
              <a:defRPr sz="899"/>
            </a:lvl8pPr>
            <a:lvl9pPr marL="3653575" indent="0">
              <a:buNone/>
              <a:defRPr sz="8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0C4F7-5933-4283-B003-668DFAB1DE97}" type="datetime1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029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1B12E-5A0F-4780-BAD8-E5B0EBBF60C0}" type="datetime1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097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5C7D4-E350-45E3-9BB3-98AF5602D78E}" type="datetime1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17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AE90DB-C893-42DF-A794-E3DA1AF971D2}" type="datetime1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1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1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73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defTabSz="456697" rtl="0" eaLnBrk="1" latinLnBrk="0" hangingPunct="1">
        <a:spcBef>
          <a:spcPct val="0"/>
        </a:spcBef>
        <a:buNone/>
        <a:defRPr sz="43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523" indent="-342523" algn="l" defTabSz="456697" rtl="0" eaLnBrk="1" latinLnBrk="0" hangingPunct="1">
        <a:spcBef>
          <a:spcPct val="20000"/>
        </a:spcBef>
        <a:buFont typeface="Arial"/>
        <a:buChar char="•"/>
        <a:defRPr sz="3197" kern="1200">
          <a:solidFill>
            <a:schemeClr val="tx1"/>
          </a:solidFill>
          <a:latin typeface="+mn-lt"/>
          <a:ea typeface="+mn-ea"/>
          <a:cs typeface="+mn-cs"/>
        </a:defRPr>
      </a:lvl1pPr>
      <a:lvl2pPr marL="742133" indent="-285436" algn="l" defTabSz="456697" rtl="0" eaLnBrk="1" latinLnBrk="0" hangingPunct="1">
        <a:spcBef>
          <a:spcPct val="20000"/>
        </a:spcBef>
        <a:buFont typeface="Arial"/>
        <a:buChar char="–"/>
        <a:defRPr sz="2797" kern="1200">
          <a:solidFill>
            <a:schemeClr val="tx1"/>
          </a:solidFill>
          <a:latin typeface="+mn-lt"/>
          <a:ea typeface="+mn-ea"/>
          <a:cs typeface="+mn-cs"/>
        </a:defRPr>
      </a:lvl2pPr>
      <a:lvl3pPr marL="1141742" indent="-228349" algn="l" defTabSz="456697" rtl="0" eaLnBrk="1" latinLnBrk="0" hangingPunct="1">
        <a:spcBef>
          <a:spcPct val="20000"/>
        </a:spcBef>
        <a:buFont typeface="Arial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598439" indent="-228349" algn="l" defTabSz="456697" rtl="0" eaLnBrk="1" latinLnBrk="0" hangingPunct="1">
        <a:spcBef>
          <a:spcPct val="20000"/>
        </a:spcBef>
        <a:buFont typeface="Arial"/>
        <a:buChar char="–"/>
        <a:defRPr sz="19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136" indent="-228349" algn="l" defTabSz="456697" rtl="0" eaLnBrk="1" latinLnBrk="0" hangingPunct="1">
        <a:spcBef>
          <a:spcPct val="20000"/>
        </a:spcBef>
        <a:buFont typeface="Arial"/>
        <a:buChar char="»"/>
        <a:defRPr sz="1998" kern="1200">
          <a:solidFill>
            <a:schemeClr val="tx1"/>
          </a:solidFill>
          <a:latin typeface="+mn-lt"/>
          <a:ea typeface="+mn-ea"/>
          <a:cs typeface="+mn-cs"/>
        </a:defRPr>
      </a:lvl5pPr>
      <a:lvl6pPr marL="2511833" indent="-228349" algn="l" defTabSz="456697" rtl="0" eaLnBrk="1" latinLnBrk="0" hangingPunct="1">
        <a:spcBef>
          <a:spcPct val="20000"/>
        </a:spcBef>
        <a:buFont typeface="Arial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6pPr>
      <a:lvl7pPr marL="2968530" indent="-228349" algn="l" defTabSz="456697" rtl="0" eaLnBrk="1" latinLnBrk="0" hangingPunct="1">
        <a:spcBef>
          <a:spcPct val="20000"/>
        </a:spcBef>
        <a:buFont typeface="Arial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7pPr>
      <a:lvl8pPr marL="3425227" indent="-228349" algn="l" defTabSz="456697" rtl="0" eaLnBrk="1" latinLnBrk="0" hangingPunct="1">
        <a:spcBef>
          <a:spcPct val="20000"/>
        </a:spcBef>
        <a:buFont typeface="Arial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8pPr>
      <a:lvl9pPr marL="3881924" indent="-228349" algn="l" defTabSz="456697" rtl="0" eaLnBrk="1" latinLnBrk="0" hangingPunct="1">
        <a:spcBef>
          <a:spcPct val="20000"/>
        </a:spcBef>
        <a:buFont typeface="Arial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697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393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090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6788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3485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0181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6878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3575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2"/>
          <p:cNvSpPr/>
          <p:nvPr/>
        </p:nvSpPr>
        <p:spPr>
          <a:xfrm>
            <a:off x="2379" y="3359177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3393"/>
            <a:endParaRPr lang="en-US" sz="1798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21725C3-A998-4595-9599-9EEC6D541693}"/>
              </a:ext>
            </a:extLst>
          </p:cNvPr>
          <p:cNvSpPr/>
          <p:nvPr/>
        </p:nvSpPr>
        <p:spPr>
          <a:xfrm>
            <a:off x="131654" y="950947"/>
            <a:ext cx="4345204" cy="865389"/>
          </a:xfrm>
          <a:prstGeom prst="roundRect">
            <a:avLst/>
          </a:prstGeom>
          <a:solidFill>
            <a:srgbClr val="4646B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Activity Planning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</a:rPr>
              <a:t>Introduction</a:t>
            </a:r>
            <a:endParaRPr lang="en-US" sz="14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9179" y="543970"/>
            <a:ext cx="4431695" cy="26314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A plan also includes scheduling, indicating start and completion time for each activity.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/>
              <a:t>A</a:t>
            </a:r>
            <a:r>
              <a:rPr lang="en-IN" sz="1200" dirty="0" err="1"/>
              <a:t>ctivity</a:t>
            </a:r>
            <a:r>
              <a:rPr lang="en-IN" sz="1200" dirty="0"/>
              <a:t> Planning is important: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US" sz="1200" dirty="0"/>
              <a:t>E</a:t>
            </a:r>
            <a:r>
              <a:rPr lang="en-IN" sz="1200" dirty="0" err="1"/>
              <a:t>nsure</a:t>
            </a:r>
            <a:r>
              <a:rPr lang="en-IN" sz="1200" dirty="0"/>
              <a:t> timely resource availability.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US" sz="1200" dirty="0"/>
              <a:t>A</a:t>
            </a:r>
            <a:r>
              <a:rPr lang="en-IN" sz="1200" dirty="0"/>
              <a:t>void resource conflicts.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US" sz="1200" dirty="0"/>
              <a:t>S</a:t>
            </a:r>
            <a:r>
              <a:rPr lang="en-IN" sz="1200" dirty="0"/>
              <a:t>how who does what task.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Set measurable achievement targets.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US" sz="1200" dirty="0"/>
              <a:t>Enable </a:t>
            </a:r>
            <a:r>
              <a:rPr lang="en-US" sz="1200" dirty="0" err="1"/>
              <a:t>replanning</a:t>
            </a:r>
            <a:r>
              <a:rPr lang="en-US" sz="1200" dirty="0"/>
              <a:t> if things go off track.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Predict cash flow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sz="1100" dirty="0"/>
          </a:p>
          <a:p>
            <a:pPr fontAlgn="base"/>
            <a:endParaRPr lang="en-US" sz="1100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3564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Activity Planning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543970"/>
            <a:ext cx="4431695" cy="29238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/>
            <a:r>
              <a:rPr lang="en-US" sz="1200" b="1" dirty="0"/>
              <a:t>Feasibility Assessment:  </a:t>
            </a:r>
          </a:p>
          <a:p>
            <a:pPr algn="just"/>
            <a:endParaRPr lang="en-IN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Checks if the project can be done within the given time and resources.</a:t>
            </a:r>
          </a:p>
          <a:p>
            <a:r>
              <a:rPr lang="en-IN" sz="1100" dirty="0"/>
              <a:t>Requires: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/>
              <a:t>A detailed plan.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/>
              <a:t>Understanding of staff availability and parallel work feasibility.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sz="1100" b="1" dirty="0"/>
          </a:p>
          <a:p>
            <a:pPr fontAlgn="base"/>
            <a:r>
              <a:rPr lang="en-US" sz="1100" b="1" dirty="0"/>
              <a:t>Resource Allocation: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 </a:t>
            </a:r>
            <a:r>
              <a:rPr lang="en-IN" sz="1100" b="1" dirty="0"/>
              <a:t>Answers:</a:t>
            </a:r>
          </a:p>
          <a:p>
            <a:pPr lvl="0"/>
            <a:r>
              <a:rPr lang="en-IN" sz="1100" dirty="0"/>
              <a:t>	Who needs what?</a:t>
            </a:r>
          </a:p>
          <a:p>
            <a:pPr lvl="0"/>
            <a:r>
              <a:rPr lang="en-IN" sz="1100" dirty="0"/>
              <a:t>	When will resources be available?</a:t>
            </a:r>
          </a:p>
          <a:p>
            <a:r>
              <a:rPr lang="en-IN" sz="1100" dirty="0"/>
              <a:t>        </a:t>
            </a:r>
            <a:r>
              <a:rPr lang="en-IN" sz="1100" b="1" dirty="0"/>
              <a:t>Explores:</a:t>
            </a:r>
          </a:p>
          <a:p>
            <a:pPr lvl="0"/>
            <a:r>
              <a:rPr lang="en-IN" sz="1100" dirty="0"/>
              <a:t>	How </a:t>
            </a:r>
            <a:r>
              <a:rPr lang="en-IN" sz="1100" b="1" dirty="0"/>
              <a:t>adding resources</a:t>
            </a:r>
            <a:r>
              <a:rPr lang="en-IN" sz="1100" dirty="0"/>
              <a:t> affects time.</a:t>
            </a:r>
          </a:p>
          <a:p>
            <a:pPr lvl="0"/>
            <a:r>
              <a:rPr lang="en-IN" sz="1100"/>
              <a:t>	Efficient </a:t>
            </a:r>
            <a:r>
              <a:rPr lang="en-IN" sz="1100" dirty="0"/>
              <a:t>use of </a:t>
            </a:r>
            <a:r>
              <a:rPr lang="en-IN" sz="1100" b="1" dirty="0"/>
              <a:t>limited staff</a:t>
            </a:r>
            <a:r>
              <a:rPr lang="en-IN" sz="1100" dirty="0"/>
              <a:t>.</a:t>
            </a:r>
          </a:p>
          <a:p>
            <a:r>
              <a:rPr lang="en-IN" sz="1100" dirty="0"/>
              <a:t> </a:t>
            </a:r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4948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Activity Planning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543970"/>
            <a:ext cx="4431695" cy="23852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dirty="0"/>
              <a:t>Detailed Costing</a:t>
            </a:r>
            <a:endParaRPr lang="en-I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 Estimates: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/>
              <a:t>How much the project will cost.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/>
              <a:t>When expenses will occur.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 Useful for budgeting and control.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r>
              <a:rPr lang="en-IN" sz="1100" b="1" dirty="0"/>
              <a:t>Motivation</a:t>
            </a:r>
            <a:endParaRPr lang="en-IN" sz="1100" dirty="0"/>
          </a:p>
          <a:p>
            <a:pPr lvl="0"/>
            <a:r>
              <a:rPr lang="en-IN" sz="1100" dirty="0"/>
              <a:t>Targets = Motivation.</a:t>
            </a:r>
          </a:p>
          <a:p>
            <a:pPr lvl="0"/>
            <a:r>
              <a:rPr lang="en-IN" sz="1100" dirty="0"/>
              <a:t>Helps teams stay focused and committed.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100" dirty="0"/>
          </a:p>
          <a:p>
            <a:r>
              <a:rPr lang="en-IN" sz="1100" dirty="0"/>
              <a:t> </a:t>
            </a:r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5129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Activity Planning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543970"/>
            <a:ext cx="4431695" cy="17081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1100" b="1" dirty="0"/>
              <a:t>Coordination</a:t>
            </a:r>
            <a:endParaRPr lang="en-IN" sz="1100" dirty="0"/>
          </a:p>
          <a:p>
            <a:pPr lvl="0"/>
            <a:r>
              <a:rPr lang="en-IN" sz="1100" dirty="0"/>
              <a:t>Answers:</a:t>
            </a:r>
          </a:p>
          <a:p>
            <a:pPr lvl="1"/>
            <a:r>
              <a:rPr lang="en-IN" sz="1100" dirty="0"/>
              <a:t>When do staff need to be shifted?</a:t>
            </a:r>
          </a:p>
          <a:p>
            <a:pPr lvl="1"/>
            <a:r>
              <a:rPr lang="en-IN" sz="1100" dirty="0"/>
              <a:t>How can teams communicate better?</a:t>
            </a:r>
          </a:p>
          <a:p>
            <a:pPr lvl="0"/>
            <a:r>
              <a:rPr lang="en-IN" sz="1100" dirty="0"/>
              <a:t>Important for:</a:t>
            </a:r>
          </a:p>
          <a:p>
            <a:pPr lvl="1"/>
            <a:r>
              <a:rPr lang="en-IN" sz="1100" dirty="0"/>
              <a:t>Projects with multiple teams/departments.</a:t>
            </a:r>
          </a:p>
          <a:p>
            <a:pPr lvl="1"/>
            <a:r>
              <a:rPr lang="en-IN" sz="1100" dirty="0"/>
              <a:t>Ensuring smooth resource transfer between tasks or phases.</a:t>
            </a:r>
          </a:p>
          <a:p>
            <a:pPr algn="just"/>
            <a:r>
              <a:rPr lang="en-IN" sz="1100" dirty="0"/>
              <a:t> </a:t>
            </a:r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33303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to plan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58" y="490630"/>
            <a:ext cx="4431695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Planning is an ongoing process of refinement.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As the project proceeds beyond the feasibility study, the emphasis is placed on planning activities.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Till the final deliverable has reached the customer, monitoring and  </a:t>
            </a:r>
            <a:r>
              <a:rPr lang="en-IN" sz="1100" dirty="0" err="1"/>
              <a:t>replanning</a:t>
            </a:r>
            <a:r>
              <a:rPr lang="en-IN" sz="1100" dirty="0"/>
              <a:t> should continue.</a:t>
            </a:r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2458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Schedule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58" y="490630"/>
            <a:ext cx="4431695" cy="17081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A project schedule is a plan that shows: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/>
              <a:t>When each activity starts and finishes,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/>
              <a:t>How much of each resource is needed?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It’s developed in four stages: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/>
              <a:t>Decide on the activities and their order.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/>
              <a:t>Create an ideal activity plan (assuming no constraints).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/>
              <a:t>Conduct an activity risk analysis (to identify issues).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/>
              <a:t>Allocate resources realistically and generate the final schedule.</a:t>
            </a:r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9771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Projects and Activities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58" y="490630"/>
            <a:ext cx="4431695" cy="30623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1100" b="1" dirty="0"/>
              <a:t>Defining Activities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A project is composed of a number of inter-related activities.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A project may start when </a:t>
            </a:r>
            <a:r>
              <a:rPr lang="en-US" sz="1100" dirty="0" err="1"/>
              <a:t>atleast</a:t>
            </a:r>
            <a:r>
              <a:rPr lang="en-US" sz="1100" dirty="0"/>
              <a:t> one of its activity is ready to start.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An activity must have a clearly defined start-point and a clearly defined end-point.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If an activity requires a resource (e.g., personnel or equipment), that requirement must be forecastable.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The duration of an activity must be forecastable.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Some activities might require that others are completed before they can begin.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The project network should not contain any loops.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Each activity must be bounded in terms of the resources and time it uses.</a:t>
            </a:r>
            <a:endParaRPr lang="en-US" sz="1100" dirty="0"/>
          </a:p>
          <a:p>
            <a:endParaRPr lang="en-US" sz="1100" dirty="0"/>
          </a:p>
          <a:p>
            <a:r>
              <a:rPr lang="en-US" sz="1100" dirty="0"/>
              <a:t> </a:t>
            </a:r>
            <a:endParaRPr lang="en-IN" sz="1100" b="1" dirty="0"/>
          </a:p>
          <a:p>
            <a:endParaRPr lang="en-IN" sz="1100" b="1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85415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Projects and Activities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58" y="490630"/>
            <a:ext cx="4431695" cy="20467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1100" b="1" dirty="0"/>
              <a:t>Identifying Activities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100" b="1" dirty="0"/>
          </a:p>
          <a:p>
            <a:r>
              <a:rPr lang="en-IN" sz="1100" dirty="0"/>
              <a:t>Three approaches</a:t>
            </a:r>
          </a:p>
          <a:p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Activity-based approach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Product-based approach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Hybrid approach</a:t>
            </a:r>
            <a:endParaRPr lang="en-US" sz="1100" dirty="0"/>
          </a:p>
          <a:p>
            <a:endParaRPr lang="en-US" sz="1100" dirty="0"/>
          </a:p>
          <a:p>
            <a:r>
              <a:rPr lang="en-US" sz="1100" dirty="0"/>
              <a:t> </a:t>
            </a:r>
            <a:endParaRPr lang="en-IN" sz="1100" b="1" dirty="0"/>
          </a:p>
          <a:p>
            <a:endParaRPr lang="en-IN" sz="1100" b="1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0137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-1345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Activity-based approach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58" y="490630"/>
            <a:ext cx="4431695" cy="25545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Creating a list of all activities.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This list can come from: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/>
              <a:t>A brainstorming session with the project team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/>
              <a:t>An analysis of similar past projects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For large projects:</a:t>
            </a:r>
            <a:br>
              <a:rPr lang="en-IN" sz="1100" dirty="0"/>
            </a:br>
            <a:r>
              <a:rPr lang="en-IN" sz="1100" dirty="0"/>
              <a:t>Break the project into main lifestyle stages (like design, development, testing, etc.) and identify activities under each.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Risk of doing it manually: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/>
              <a:t>Might miss activities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/>
              <a:t>Or duplicate some</a:t>
            </a:r>
          </a:p>
          <a:p>
            <a:endParaRPr lang="en-IN" sz="1100" b="1" dirty="0"/>
          </a:p>
          <a:p>
            <a:endParaRPr lang="en-IN" sz="1100" b="1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168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Activity-based approach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58" y="490630"/>
            <a:ext cx="4431695" cy="25545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1100" dirty="0"/>
              <a:t>Work Break Down Structure (WBS) is preferred method of identifying and organizing project tasks.</a:t>
            </a:r>
          </a:p>
          <a:p>
            <a:pPr lvl="0"/>
            <a:r>
              <a:rPr lang="en-IN" sz="1100" b="1" dirty="0"/>
              <a:t>How WBS works:</a:t>
            </a:r>
            <a:endParaRPr lang="en-IN" sz="1100" dirty="0"/>
          </a:p>
          <a:p>
            <a:pPr lvl="1"/>
            <a:r>
              <a:rPr lang="en-IN" sz="1100" dirty="0"/>
              <a:t>Identify the main tasks (high-level)</a:t>
            </a:r>
          </a:p>
          <a:p>
            <a:pPr lvl="1"/>
            <a:r>
              <a:rPr lang="en-IN" sz="1100" dirty="0"/>
              <a:t>Break them down into smaller sub-tasks</a:t>
            </a:r>
          </a:p>
          <a:p>
            <a:pPr lvl="1"/>
            <a:r>
              <a:rPr lang="en-IN" sz="1100" dirty="0"/>
              <a:t>Keep breaking down until you reach clearly manageable and actionable tasks</a:t>
            </a:r>
          </a:p>
          <a:p>
            <a:pPr lvl="0"/>
            <a:r>
              <a:rPr lang="en-IN" sz="1100" b="1" dirty="0"/>
              <a:t>Rule for adding activities to a branch:</a:t>
            </a:r>
            <a:endParaRPr lang="en-IN" sz="1100" dirty="0"/>
          </a:p>
          <a:p>
            <a:pPr lvl="1"/>
            <a:r>
              <a:rPr lang="en-IN" sz="1100" dirty="0"/>
              <a:t>Add a task only if it directly contributes to the task just above it in the hierarchy</a:t>
            </a:r>
          </a:p>
          <a:p>
            <a:pPr lvl="1"/>
            <a:r>
              <a:rPr lang="en-IN" sz="1100" dirty="0"/>
              <a:t>If it doesn’t, it should not be part of that branch</a:t>
            </a:r>
          </a:p>
          <a:p>
            <a:endParaRPr lang="en-IN" sz="1100" b="1" dirty="0"/>
          </a:p>
          <a:p>
            <a:endParaRPr lang="en-IN" sz="1100" b="1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3500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Activity-based approach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58" y="490630"/>
            <a:ext cx="4431695" cy="6924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IN" sz="1100" b="1" dirty="0"/>
          </a:p>
          <a:p>
            <a:endParaRPr lang="en-IN" sz="1100" b="1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929A46-4403-4292-AFA5-10CB2EAC8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8" y="476554"/>
            <a:ext cx="3973926" cy="248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421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Activity-based approach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58" y="490630"/>
            <a:ext cx="4431695" cy="30623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1100" b="1" dirty="0"/>
              <a:t>Assumptions / Considerations Made When Using WBS:</a:t>
            </a:r>
          </a:p>
          <a:p>
            <a:endParaRPr lang="en-IN" sz="1100" dirty="0"/>
          </a:p>
          <a:p>
            <a:pPr lvl="0"/>
            <a:r>
              <a:rPr lang="en-IN" sz="1100" b="1" dirty="0"/>
              <a:t>Completeness of Tasks</a:t>
            </a:r>
            <a:r>
              <a:rPr lang="en-IN" sz="1100" dirty="0"/>
              <a:t>:</a:t>
            </a:r>
          </a:p>
          <a:p>
            <a:pPr lvl="1"/>
            <a:r>
              <a:rPr lang="en-IN" sz="1100" dirty="0"/>
              <a:t>Every task at a lower level must fully define what is needed for the higher-level task.</a:t>
            </a:r>
          </a:p>
          <a:p>
            <a:pPr lvl="1"/>
            <a:r>
              <a:rPr lang="en-IN" sz="1100" dirty="0"/>
              <a:t>If the subtasks do not cover the entire parent task, something is missing.</a:t>
            </a:r>
          </a:p>
          <a:p>
            <a:pPr lvl="0"/>
            <a:r>
              <a:rPr lang="en-IN" sz="1100" b="1" dirty="0"/>
              <a:t>Depth of Structure</a:t>
            </a:r>
            <a:r>
              <a:rPr lang="en-IN" sz="1100" dirty="0"/>
              <a:t>:</a:t>
            </a:r>
          </a:p>
          <a:p>
            <a:pPr lvl="1"/>
            <a:r>
              <a:rPr lang="en-IN" sz="1100" dirty="0"/>
              <a:t>Too much depth = too many small tasks → difficult to manage.</a:t>
            </a:r>
          </a:p>
          <a:p>
            <a:pPr lvl="1"/>
            <a:r>
              <a:rPr lang="en-IN" sz="1100" dirty="0"/>
              <a:t>Too little depth = insufficient detail for project control.</a:t>
            </a:r>
          </a:p>
          <a:p>
            <a:pPr lvl="1"/>
            <a:r>
              <a:rPr lang="en-IN" sz="1100" dirty="0"/>
              <a:t>Need a balance based on manageability and control.</a:t>
            </a:r>
          </a:p>
          <a:p>
            <a:pPr lvl="0"/>
            <a:r>
              <a:rPr lang="en-IN" sz="1100" b="1" dirty="0"/>
              <a:t>Level of Breakdown</a:t>
            </a:r>
            <a:r>
              <a:rPr lang="en-IN" sz="1100" dirty="0"/>
              <a:t>:</a:t>
            </a:r>
          </a:p>
          <a:p>
            <a:pPr lvl="1"/>
            <a:r>
              <a:rPr lang="en-IN" sz="1100" dirty="0"/>
              <a:t>Tasks should be broken down enough so that each one can be assigned to an individual or a unit.</a:t>
            </a:r>
          </a:p>
          <a:p>
            <a:endParaRPr lang="en-IN" sz="1100" b="1" dirty="0"/>
          </a:p>
          <a:p>
            <a:endParaRPr lang="en-IN" sz="1100" b="1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8352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Activity-based approach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58" y="490630"/>
            <a:ext cx="4431695" cy="35702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en-IN" sz="1100" b="1" dirty="0"/>
              <a:t>Clarity and Non-overlap</a:t>
            </a:r>
            <a:r>
              <a:rPr lang="en-IN" sz="1100" dirty="0"/>
              <a:t>:</a:t>
            </a:r>
          </a:p>
          <a:p>
            <a:pPr lvl="1"/>
            <a:r>
              <a:rPr lang="en-IN" sz="1100" dirty="0"/>
              <a:t>Ensures the task list is complete and non-overlapping.</a:t>
            </a:r>
          </a:p>
          <a:p>
            <a:pPr lvl="1"/>
            <a:r>
              <a:rPr lang="en-IN" sz="1100" dirty="0"/>
              <a:t>Only the leaves of the WBS (i.e., the bottom-level tasks) are considered as real, actionable activities.</a:t>
            </a:r>
          </a:p>
          <a:p>
            <a:pPr lvl="1"/>
            <a:endParaRPr lang="en-IN" sz="1100" dirty="0"/>
          </a:p>
          <a:p>
            <a:pPr lvl="0"/>
            <a:r>
              <a:rPr lang="en-IN" sz="1100" b="1" dirty="0"/>
              <a:t>Refinement Over Time</a:t>
            </a:r>
            <a:r>
              <a:rPr lang="en-IN" sz="1100" dirty="0"/>
              <a:t>:</a:t>
            </a:r>
          </a:p>
          <a:p>
            <a:pPr lvl="1"/>
            <a:r>
              <a:rPr lang="en-IN" sz="1100" dirty="0"/>
              <a:t>WBS can be refined as the project progresses.</a:t>
            </a:r>
          </a:p>
          <a:p>
            <a:pPr lvl="1"/>
            <a:r>
              <a:rPr lang="en-IN" sz="1100" dirty="0"/>
              <a:t>Initially, a shallow or high-level WBS may be used during the early planning stages.</a:t>
            </a:r>
          </a:p>
          <a:p>
            <a:pPr lvl="1"/>
            <a:endParaRPr lang="en-IN" sz="1100" dirty="0"/>
          </a:p>
          <a:p>
            <a:pPr lvl="0"/>
            <a:r>
              <a:rPr lang="en-IN" sz="1100" b="1" dirty="0"/>
              <a:t>Foundation for Sequencing</a:t>
            </a:r>
            <a:r>
              <a:rPr lang="en-IN" sz="1100" dirty="0"/>
              <a:t>:</a:t>
            </a:r>
          </a:p>
          <a:p>
            <a:pPr lvl="1"/>
            <a:r>
              <a:rPr lang="en-IN" sz="1100" dirty="0"/>
              <a:t>Once tasks are identified (with or without WBS), they must be sequenced – deciding which tasks depend on others.</a:t>
            </a:r>
          </a:p>
          <a:p>
            <a:pPr lvl="1"/>
            <a:endParaRPr lang="en-IN" sz="1100" dirty="0"/>
          </a:p>
          <a:p>
            <a:pPr lvl="0"/>
            <a:r>
              <a:rPr lang="en-IN" sz="1100" b="1" dirty="0"/>
              <a:t>Adaptability</a:t>
            </a:r>
            <a:r>
              <a:rPr lang="en-IN" sz="1100" dirty="0"/>
              <a:t>:</a:t>
            </a:r>
          </a:p>
          <a:p>
            <a:pPr lvl="1"/>
            <a:r>
              <a:rPr lang="en-IN" sz="1100" dirty="0"/>
              <a:t>WBS allows for modification as more project information becomes available, especially during analysis/specification phases.</a:t>
            </a:r>
          </a:p>
          <a:p>
            <a:endParaRPr lang="en-IN" sz="1100" b="1" dirty="0"/>
          </a:p>
          <a:p>
            <a:endParaRPr lang="en-IN" sz="1100" b="1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999829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Product-based approach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58" y="490630"/>
            <a:ext cx="4431695" cy="25545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just"/>
            <a:r>
              <a:rPr lang="en-US" sz="1100" dirty="0"/>
              <a:t>Product-Based Planning is a planning technique where you focus on the deliverables (products) first — before thinking about the activities (tasks) needed to produce them.</a:t>
            </a:r>
          </a:p>
          <a:p>
            <a:pPr lvl="0"/>
            <a:endParaRPr lang="en-US" sz="1100" b="1" dirty="0"/>
          </a:p>
          <a:p>
            <a:pPr lvl="0"/>
            <a:r>
              <a:rPr lang="en-US" sz="1100" b="1" dirty="0"/>
              <a:t>Key Idea: </a:t>
            </a:r>
            <a:r>
              <a:rPr lang="en-US" sz="1100" dirty="0"/>
              <a:t>“First decide what needs to be delivered, then figure out how to deliver it.”</a:t>
            </a:r>
          </a:p>
          <a:p>
            <a:pPr lvl="0"/>
            <a:endParaRPr lang="en-IN" sz="1100" dirty="0"/>
          </a:p>
          <a:p>
            <a:r>
              <a:rPr lang="en-US" sz="1100" b="1" dirty="0"/>
              <a:t>Why Use Product-Based Planning?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It ensures nothing important is missed.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It gives a clear picture of all outputs.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It helps you focus on goals and results, not just busy tasks.</a:t>
            </a:r>
          </a:p>
          <a:p>
            <a:endParaRPr lang="en-IN" sz="1100" b="1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6583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Product-based approach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58" y="490630"/>
            <a:ext cx="4431695" cy="18774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dirty="0"/>
              <a:t>What is a "Product"?</a:t>
            </a:r>
          </a:p>
          <a:p>
            <a:r>
              <a:rPr lang="en-US" sz="1100" dirty="0"/>
              <a:t>In this context, a </a:t>
            </a:r>
            <a:r>
              <a:rPr lang="en-US" sz="1100" b="1" dirty="0"/>
              <a:t>product</a:t>
            </a:r>
            <a:r>
              <a:rPr lang="en-US" sz="1100" dirty="0"/>
              <a:t> is </a:t>
            </a:r>
            <a:r>
              <a:rPr lang="en-US" sz="1100" i="1" dirty="0"/>
              <a:t>anything you deliver</a:t>
            </a:r>
            <a:r>
              <a:rPr lang="en-US" sz="1100" dirty="0"/>
              <a:t> during the project.</a:t>
            </a:r>
            <a:br>
              <a:rPr lang="en-US" sz="1100" dirty="0"/>
            </a:br>
            <a:r>
              <a:rPr lang="en-US" sz="1100" dirty="0"/>
              <a:t>Examples: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A report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A software module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A data catalog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A training manual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A test plan</a:t>
            </a:r>
          </a:p>
          <a:p>
            <a:endParaRPr lang="en-IN" sz="1100" b="1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710550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Product-based approach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58" y="490630"/>
            <a:ext cx="4431695" cy="22159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dirty="0"/>
              <a:t>Steps in Product-Based Planning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List all products (big and small) that the project must deliver</a:t>
            </a:r>
          </a:p>
          <a:p>
            <a:r>
              <a:rPr lang="en-US" sz="1100" dirty="0"/>
              <a:t>	This forms the Product Breakdown Structure (PBS).</a:t>
            </a:r>
          </a:p>
          <a:p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Determine the order in which products are needed or depend on each other</a:t>
            </a:r>
          </a:p>
          <a:p>
            <a:r>
              <a:rPr lang="en-US" sz="1100" dirty="0"/>
              <a:t>	This forms the Product Flow Diagram (PFD).</a:t>
            </a:r>
          </a:p>
          <a:p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Figure out the tasks required to build each product</a:t>
            </a:r>
          </a:p>
          <a:p>
            <a:r>
              <a:rPr lang="en-US" sz="1100" dirty="0"/>
              <a:t>	This creates the Work Breakdown Structure (WBS).</a:t>
            </a:r>
          </a:p>
          <a:p>
            <a:endParaRPr lang="en-IN" sz="1100" b="1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7365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approach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58" y="490630"/>
            <a:ext cx="4431695" cy="10310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It means combining both Product-Based and Activity-Based WBS.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You first decide what to build (the products), then you plan how to build them (the activities).</a:t>
            </a:r>
            <a:endParaRPr lang="en-IN" sz="1100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097252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Sequencing and Scheduling Activities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58" y="490630"/>
            <a:ext cx="4431695" cy="28777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dirty="0"/>
              <a:t>Sequencing:</a:t>
            </a:r>
          </a:p>
          <a:p>
            <a:endParaRPr lang="en-US" sz="1100" b="1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/>
              <a:t>Determining the logical order in which activities should be performed.</a:t>
            </a:r>
          </a:p>
          <a:p>
            <a:pPr lvl="0"/>
            <a:endParaRPr lang="en-IN" sz="11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/>
              <a:t>Based on dependencies: Some tasks must be completed before others can start.</a:t>
            </a:r>
            <a:endParaRPr lang="en-US" sz="1100" spc="-20" dirty="0">
              <a:latin typeface="Times New Roman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100" b="1" spc="-20" dirty="0">
              <a:latin typeface="Times New Roman"/>
            </a:endParaRPr>
          </a:p>
          <a:p>
            <a:pPr lvl="0"/>
            <a:r>
              <a:rPr lang="en-US" sz="1100" b="1" spc="-20" dirty="0"/>
              <a:t>Scheduling: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/>
              <a:t>Assigning specific times (start/end dates) to activities, respecting the sequence.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1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/>
              <a:t>Involves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/>
              <a:t>Estimating durations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/>
              <a:t>Considering resources available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/>
              <a:t>Allocating time buffers</a:t>
            </a:r>
          </a:p>
          <a:p>
            <a:pPr lvl="0"/>
            <a:endParaRPr lang="en-US" sz="1100" b="1" spc="-20" dirty="0">
              <a:latin typeface="Times New Roman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100" b="1" dirty="0"/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494805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Sequencing and Scheduling Activities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58" y="490630"/>
            <a:ext cx="4431695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/>
            <a:endParaRPr lang="en-US" sz="1100" b="1" spc="-20" dirty="0">
              <a:latin typeface="Times New Roman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100" b="1" dirty="0"/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F6BEB5-DF1B-4830-90CA-7BE054EBE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60" y="490630"/>
            <a:ext cx="4264393" cy="267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5553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planning Models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8408" y="559210"/>
            <a:ext cx="4431695" cy="13542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Project scheduling techniques model the project activities and their relationships as a network.</a:t>
            </a:r>
          </a:p>
          <a:p>
            <a:pPr lvl="0"/>
            <a:endParaRPr lang="en-US" sz="1100" b="1" spc="-20" dirty="0">
              <a:latin typeface="Times New Roman"/>
            </a:endParaRPr>
          </a:p>
          <a:p>
            <a:pPr lvl="0"/>
            <a:r>
              <a:rPr lang="en-US" sz="1100" spc="-20" dirty="0"/>
              <a:t>Two models are</a:t>
            </a:r>
          </a:p>
          <a:p>
            <a:pPr lvl="0"/>
            <a:endParaRPr lang="en-US" sz="1100" spc="-2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spc="-20" dirty="0"/>
              <a:t>PERT (Program Evaluation Review Technique)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spc="-20" dirty="0"/>
              <a:t>CPM (Critical Path Method)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100" b="1" dirty="0"/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774385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Formulating Network Model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8408" y="559210"/>
            <a:ext cx="4431695" cy="18620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CPM is a project scheduling technique used to model project activities and their relationships as a network. It helps to: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Determine the sequence of tasks (activities),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Identify dependencies between tasks,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Highlight the critical path – the longest sequence of tasks that determines the minimum project duration.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lvl="1"/>
            <a:endParaRPr lang="en-US" sz="11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100" b="1" dirty="0"/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97348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Concepts of CPM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8408" y="559210"/>
            <a:ext cx="4431695" cy="13542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/>
              <a:t>1. Network Representation</a:t>
            </a:r>
          </a:p>
          <a:p>
            <a:r>
              <a:rPr lang="en-US" sz="1100" dirty="0"/>
              <a:t>Activities are shown as arrows/links.</a:t>
            </a:r>
          </a:p>
          <a:p>
            <a:r>
              <a:rPr lang="en-US" sz="1100" dirty="0"/>
              <a:t>Events (starting or finishing points) are shown as nodes/circles.</a:t>
            </a:r>
          </a:p>
          <a:p>
            <a:pPr lvl="1"/>
            <a:r>
              <a:rPr lang="en-US" sz="1100" dirty="0"/>
              <a:t>Start node = where the project begins</a:t>
            </a:r>
          </a:p>
          <a:p>
            <a:pPr lvl="1"/>
            <a:r>
              <a:rPr lang="en-US" sz="1100" dirty="0"/>
              <a:t>End node = where the project finishes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lvl="1"/>
            <a:endParaRPr lang="en-US" sz="11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100" b="1" dirty="0"/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07E1A9-2EFF-403A-A61B-A040E7519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8" y="1544633"/>
            <a:ext cx="4427621" cy="157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157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concepts of CPM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559210"/>
            <a:ext cx="4431695" cy="36009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dirty="0"/>
              <a:t>1. A project network may have only one start node</a:t>
            </a:r>
            <a:endParaRPr lang="en-US" sz="1100" dirty="0"/>
          </a:p>
          <a:p>
            <a:pPr lvl="1"/>
            <a:r>
              <a:rPr lang="en-US" sz="1100" dirty="0"/>
              <a:t>There is only one starting event (e.g., node 1).</a:t>
            </a:r>
          </a:p>
          <a:p>
            <a:pPr lvl="1"/>
            <a:r>
              <a:rPr lang="en-US" sz="1100" dirty="0"/>
              <a:t>All starting activities branch from this.</a:t>
            </a:r>
          </a:p>
          <a:p>
            <a:pPr lvl="1"/>
            <a:endParaRPr lang="en-US" sz="1100" dirty="0"/>
          </a:p>
          <a:p>
            <a:r>
              <a:rPr lang="en-US" sz="1100" b="1" dirty="0"/>
              <a:t>2.</a:t>
            </a:r>
            <a:r>
              <a:rPr lang="en-US" sz="1100" dirty="0"/>
              <a:t> </a:t>
            </a:r>
            <a:r>
              <a:rPr lang="en-US" sz="1100" b="1" dirty="0"/>
              <a:t>A project network may have only one end node</a:t>
            </a:r>
            <a:endParaRPr lang="en-US" sz="1100" dirty="0"/>
          </a:p>
          <a:p>
            <a:pPr lvl="1"/>
            <a:r>
              <a:rPr lang="en-IN" sz="1100" dirty="0"/>
              <a:t>The network has one completion point (e.g., node 10).</a:t>
            </a:r>
          </a:p>
          <a:p>
            <a:pPr lvl="1"/>
            <a:r>
              <a:rPr lang="en-IN" sz="1100" dirty="0"/>
              <a:t>This marks the end of the project.</a:t>
            </a:r>
          </a:p>
          <a:p>
            <a:endParaRPr lang="en-US" sz="1100" dirty="0"/>
          </a:p>
          <a:p>
            <a:r>
              <a:rPr lang="en-US" sz="1100" b="1" dirty="0"/>
              <a:t>3. A link has a duration</a:t>
            </a:r>
          </a:p>
          <a:p>
            <a:pPr lvl="1"/>
            <a:r>
              <a:rPr lang="en-IN" sz="1100" dirty="0"/>
              <a:t>Each link is an activity that has a duration.</a:t>
            </a:r>
          </a:p>
          <a:p>
            <a:pPr lvl="1"/>
            <a:r>
              <a:rPr lang="en-IN" sz="1100" dirty="0"/>
              <a:t>Example: “Code/test module B” is a task that takes time.</a:t>
            </a:r>
            <a:endParaRPr lang="en-IN" dirty="0"/>
          </a:p>
          <a:p>
            <a:endParaRPr lang="en-US" sz="1100" b="1" dirty="0"/>
          </a:p>
          <a:p>
            <a:r>
              <a:rPr lang="en-US" sz="1100" b="1" dirty="0"/>
              <a:t>4. Nodes have no duration</a:t>
            </a:r>
            <a:endParaRPr lang="en-IN" sz="1100" b="1" dirty="0"/>
          </a:p>
          <a:p>
            <a:pPr lvl="1"/>
            <a:r>
              <a:rPr lang="en-IN" sz="1100" dirty="0"/>
              <a:t>Nodes are just events in time.</a:t>
            </a:r>
          </a:p>
          <a:p>
            <a:pPr lvl="1"/>
            <a:r>
              <a:rPr lang="en-IN" sz="1100" dirty="0"/>
              <a:t>A node doesn’t take time; it shows that an activity has started or finished.</a:t>
            </a:r>
          </a:p>
          <a:p>
            <a:endParaRPr lang="en-IN" dirty="0"/>
          </a:p>
          <a:p>
            <a:endParaRPr lang="en-US" sz="1100" dirty="0"/>
          </a:p>
          <a:p>
            <a:pPr lvl="1"/>
            <a:endParaRPr lang="en-US" sz="11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100" b="1" dirty="0"/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614519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concepts of CPM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559210"/>
            <a:ext cx="4431695" cy="30469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dirty="0"/>
              <a:t>5. Time moves from left to right</a:t>
            </a:r>
            <a:endParaRPr lang="en-US" sz="1100" dirty="0"/>
          </a:p>
          <a:p>
            <a:pPr lvl="1"/>
            <a:r>
              <a:rPr lang="en-IN" sz="1100" dirty="0"/>
              <a:t>Time flows left to right.</a:t>
            </a:r>
          </a:p>
          <a:p>
            <a:pPr lvl="1"/>
            <a:r>
              <a:rPr lang="en-IN" sz="1100" dirty="0"/>
              <a:t>Arrows indicate sequence and dependencies.</a:t>
            </a:r>
          </a:p>
          <a:p>
            <a:pPr lvl="1"/>
            <a:endParaRPr lang="en-US" sz="1100" dirty="0"/>
          </a:p>
          <a:p>
            <a:r>
              <a:rPr lang="en-US" sz="1100" b="1" dirty="0"/>
              <a:t>6.</a:t>
            </a:r>
            <a:r>
              <a:rPr lang="en-US" sz="1100" dirty="0"/>
              <a:t> </a:t>
            </a:r>
            <a:r>
              <a:rPr lang="en-US" sz="1100" b="1" dirty="0"/>
              <a:t>Nodes are numbered sequentially</a:t>
            </a:r>
            <a:endParaRPr lang="en-US" sz="1100" dirty="0"/>
          </a:p>
          <a:p>
            <a:pPr lvl="1"/>
            <a:r>
              <a:rPr lang="en-IN" sz="1100" dirty="0"/>
              <a:t>Events are numbered sequentially to avoid confusion.</a:t>
            </a:r>
          </a:p>
          <a:p>
            <a:pPr lvl="1"/>
            <a:r>
              <a:rPr lang="en-IN" sz="1100" dirty="0"/>
              <a:t>Head nodes (end) should have a higher number than tail nodes (start).</a:t>
            </a:r>
          </a:p>
          <a:p>
            <a:endParaRPr lang="en-US" sz="1100" dirty="0"/>
          </a:p>
          <a:p>
            <a:r>
              <a:rPr lang="en-US" sz="1100" b="1" dirty="0"/>
              <a:t>7. A network may not contain loops</a:t>
            </a:r>
          </a:p>
          <a:p>
            <a:pPr lvl="1"/>
            <a:r>
              <a:rPr lang="en-IN" sz="1100" dirty="0"/>
              <a:t>Loops (circular paths) are not allowed in CPM.</a:t>
            </a:r>
          </a:p>
          <a:p>
            <a:pPr lvl="1"/>
            <a:r>
              <a:rPr lang="en-IN" sz="1100" dirty="0"/>
              <a:t>It indicates a logical error, like an infinite task cycle.</a:t>
            </a:r>
          </a:p>
          <a:p>
            <a:r>
              <a:rPr lang="en-IN" sz="1100" b="1" dirty="0"/>
              <a:t> 8. A network may not contain dangles</a:t>
            </a:r>
          </a:p>
          <a:p>
            <a:endParaRPr lang="en-US" sz="1100" b="1" dirty="0"/>
          </a:p>
          <a:p>
            <a:endParaRPr lang="en-IN" sz="1100" dirty="0"/>
          </a:p>
          <a:p>
            <a:endParaRPr lang="en-US" sz="1100" dirty="0"/>
          </a:p>
          <a:p>
            <a:pPr lvl="1"/>
            <a:endParaRPr lang="en-US" sz="11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100" b="1" dirty="0"/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14805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concepts of CPM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559210"/>
            <a:ext cx="4431695" cy="8463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sz="1100" b="1" dirty="0"/>
          </a:p>
          <a:p>
            <a:endParaRPr lang="en-IN" sz="1100" dirty="0"/>
          </a:p>
          <a:p>
            <a:endParaRPr lang="en-US" sz="1100" dirty="0"/>
          </a:p>
          <a:p>
            <a:pPr lvl="1"/>
            <a:endParaRPr lang="en-US" sz="11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100" b="1" dirty="0"/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B4FBB1E-F5B0-4356-87E2-D912CC235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700" y="697199"/>
            <a:ext cx="4081112" cy="149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5687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concepts of CPM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559210"/>
            <a:ext cx="4431695" cy="22006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1100" b="1" dirty="0"/>
              <a:t> 8. A network may not contain dangles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100" dirty="0"/>
              <a:t>A dangle is a logical flaw in an activity network (like a CPM or PERT chart), where an activity ends without connecting to a succeeding activity or to the project's final completion node.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dirty="0"/>
              <a:t>A</a:t>
            </a:r>
            <a:r>
              <a:rPr lang="en-IN" sz="1100" dirty="0" err="1"/>
              <a:t>ll</a:t>
            </a:r>
            <a:r>
              <a:rPr lang="en-IN" sz="1100" dirty="0"/>
              <a:t> events, except first and last, must have at least one activity entering them and one activity leaving them and all activities must start and end with an event.</a:t>
            </a:r>
          </a:p>
          <a:p>
            <a:endParaRPr lang="en-IN" sz="1100" dirty="0"/>
          </a:p>
          <a:p>
            <a:endParaRPr lang="en-US" sz="1100" dirty="0"/>
          </a:p>
          <a:p>
            <a:pPr lvl="1"/>
            <a:endParaRPr lang="en-US" sz="11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100" b="1" dirty="0"/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F71863-8E71-4D8C-B06D-6980693A0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44" y="2253973"/>
            <a:ext cx="3041583" cy="101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8738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concepts of CPM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559210"/>
            <a:ext cx="4431695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1100" b="1" dirty="0"/>
              <a:t> 9. </a:t>
            </a:r>
            <a:r>
              <a:rPr lang="en-US" sz="1100" b="1" dirty="0"/>
              <a:t>Precedents are the immediate preceding activities</a:t>
            </a:r>
          </a:p>
          <a:p>
            <a:r>
              <a:rPr lang="en-US" sz="1100" b="1" dirty="0"/>
              <a:t> </a:t>
            </a:r>
            <a:endParaRPr lang="en-IN" sz="1100" dirty="0"/>
          </a:p>
          <a:p>
            <a:endParaRPr lang="en-IN" sz="1100" dirty="0"/>
          </a:p>
          <a:p>
            <a:endParaRPr lang="en-US" sz="1100" dirty="0"/>
          </a:p>
          <a:p>
            <a:pPr lvl="1"/>
            <a:endParaRPr lang="en-US" sz="11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100" b="1" dirty="0"/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E37681-481C-49B7-A273-241071081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38" y="1304508"/>
            <a:ext cx="3965608" cy="98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0615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dummy activities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58" y="559210"/>
            <a:ext cx="4431695" cy="15234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 When two paths within a network have a common event, in other respects independent.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r>
              <a:rPr lang="en-US" sz="1100" dirty="0"/>
              <a:t> </a:t>
            </a:r>
            <a:endParaRPr lang="en-IN" sz="1100" dirty="0"/>
          </a:p>
          <a:p>
            <a:endParaRPr lang="en-IN" sz="1100" dirty="0"/>
          </a:p>
          <a:p>
            <a:endParaRPr lang="en-US" sz="1100" dirty="0"/>
          </a:p>
          <a:p>
            <a:pPr lvl="1"/>
            <a:endParaRPr lang="en-US" sz="11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100" b="1" dirty="0"/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2BA461-2156-4429-9218-DCBCCE2BF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" y="1029263"/>
            <a:ext cx="3268980" cy="163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0041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dummy activities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58" y="559210"/>
            <a:ext cx="4431695" cy="11849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r>
              <a:rPr lang="en-US" sz="1100" dirty="0"/>
              <a:t> </a:t>
            </a:r>
            <a:endParaRPr lang="en-IN" sz="1100" dirty="0"/>
          </a:p>
          <a:p>
            <a:endParaRPr lang="en-IN" sz="1100" dirty="0"/>
          </a:p>
          <a:p>
            <a:endParaRPr lang="en-US" sz="1100" dirty="0"/>
          </a:p>
          <a:p>
            <a:pPr lvl="1"/>
            <a:endParaRPr lang="en-US" sz="11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100" b="1" dirty="0"/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E2E794-72FF-44AC-9850-C32BAE210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" y="1158926"/>
            <a:ext cx="3571181" cy="137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857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dummy activities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58" y="559210"/>
            <a:ext cx="4431695" cy="11849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r>
              <a:rPr lang="en-US" sz="1100" dirty="0"/>
              <a:t> </a:t>
            </a:r>
            <a:endParaRPr lang="en-IN" sz="1100" dirty="0"/>
          </a:p>
          <a:p>
            <a:endParaRPr lang="en-IN" sz="1100" dirty="0"/>
          </a:p>
          <a:p>
            <a:endParaRPr lang="en-US" sz="1100" dirty="0"/>
          </a:p>
          <a:p>
            <a:pPr lvl="1"/>
            <a:endParaRPr lang="en-US" sz="11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100" b="1" dirty="0"/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8473B1-917E-4639-852F-182DA20B1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60" y="670560"/>
            <a:ext cx="4000708" cy="134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2989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Representing lagged activities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559210"/>
            <a:ext cx="4431695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100" dirty="0"/>
              <a:t>Undertake two activities in parallel as long as there is a lag between two. </a:t>
            </a:r>
          </a:p>
          <a:p>
            <a:endParaRPr lang="en-IN" sz="1100" dirty="0"/>
          </a:p>
          <a:p>
            <a:endParaRPr lang="en-US" sz="1100" dirty="0"/>
          </a:p>
          <a:p>
            <a:pPr lvl="1"/>
            <a:endParaRPr lang="en-US" sz="11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100" b="1" dirty="0"/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F35E33-D0A5-4312-9E4C-56743D58A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" y="1219200"/>
            <a:ext cx="3048604" cy="167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632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Adding the time dimension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559210"/>
            <a:ext cx="4431695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100" dirty="0"/>
          </a:p>
          <a:p>
            <a:endParaRPr lang="en-US" sz="1100" dirty="0"/>
          </a:p>
          <a:p>
            <a:pPr lvl="1"/>
            <a:endParaRPr lang="en-US" sz="11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100" b="1" dirty="0"/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51A855-3107-4E52-A413-2B8952194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38" y="1067041"/>
            <a:ext cx="3965608" cy="2198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3143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Adding the time dimension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559210"/>
            <a:ext cx="4431695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100" dirty="0"/>
          </a:p>
          <a:p>
            <a:endParaRPr lang="en-US" sz="1100" dirty="0"/>
          </a:p>
          <a:p>
            <a:pPr lvl="1"/>
            <a:endParaRPr lang="en-US" sz="11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100" b="1" dirty="0"/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1889D5-82D2-4B92-9F78-5E32137C7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834" y="814708"/>
            <a:ext cx="3773103" cy="168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360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 pass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559210"/>
            <a:ext cx="4431695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dirty="0"/>
              <a:t>Forward pass is used to calculate the earliest start date and finish date.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100" dirty="0"/>
          </a:p>
          <a:p>
            <a:endParaRPr lang="en-IN" sz="1100" dirty="0"/>
          </a:p>
          <a:p>
            <a:endParaRPr lang="en-US" sz="1100" dirty="0"/>
          </a:p>
          <a:p>
            <a:pPr lvl="1"/>
            <a:endParaRPr lang="en-US" sz="11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100" b="1" dirty="0"/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120D3A-7F09-45E7-A0D9-5AA1C7999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226" y="1067041"/>
            <a:ext cx="3657600" cy="168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6299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 pass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559210"/>
            <a:ext cx="4431695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dirty="0"/>
              <a:t>Forward pass is used to calculate the earliest start date and finish date.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100" dirty="0"/>
          </a:p>
          <a:p>
            <a:endParaRPr lang="en-IN" sz="1100" dirty="0"/>
          </a:p>
          <a:p>
            <a:endParaRPr lang="en-US" sz="1100" dirty="0"/>
          </a:p>
          <a:p>
            <a:pPr lvl="1"/>
            <a:endParaRPr lang="en-US" sz="11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100" b="1" dirty="0"/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9E6B51-6C8C-4BB1-8FD7-9F6695246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35" y="997715"/>
            <a:ext cx="4253381" cy="216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7834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Backward Pass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559210"/>
            <a:ext cx="4431695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dirty="0"/>
              <a:t>The backward pass is a technique used to calculate the latest times each activity can start and finish without delaying the overall project.</a:t>
            </a:r>
          </a:p>
          <a:p>
            <a:endParaRPr lang="en-IN" sz="1100" dirty="0"/>
          </a:p>
          <a:p>
            <a:endParaRPr lang="en-US" sz="1100" dirty="0"/>
          </a:p>
          <a:p>
            <a:pPr lvl="1"/>
            <a:endParaRPr lang="en-US" sz="11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100" b="1" dirty="0"/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45CC10-FC85-41FB-B132-4D8CE4FC2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13" y="981738"/>
            <a:ext cx="4427621" cy="226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02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Backward Pass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559210"/>
            <a:ext cx="4431695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dirty="0"/>
              <a:t>The backward pass is a technique used to calculate the latest times each activity can start and finish without delaying the overall project.</a:t>
            </a:r>
          </a:p>
          <a:p>
            <a:endParaRPr lang="en-IN" sz="1100" dirty="0"/>
          </a:p>
          <a:p>
            <a:endParaRPr lang="en-US" sz="1100" dirty="0"/>
          </a:p>
          <a:p>
            <a:pPr lvl="1"/>
            <a:endParaRPr lang="en-US" sz="11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100" b="1" dirty="0"/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F23E4E-79B9-40A6-B637-E183788BF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61" y="1305507"/>
            <a:ext cx="3272589" cy="163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7809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Identifying Critical Path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559210"/>
            <a:ext cx="4431695" cy="2369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100" dirty="0"/>
              <a:t>The difference between the earliest date and the latest date for an event is known as slack.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IN" sz="11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100" dirty="0"/>
              <a:t>It tells you how much you can delay an activity without affecting the project deadline.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IN" sz="11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100" dirty="0"/>
              <a:t>Any event with slack zero is critical.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IN" sz="11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100" dirty="0"/>
              <a:t>There will always be at least one path through the network joining these events, and this path is known as the critical path.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IN" sz="1100" dirty="0"/>
          </a:p>
          <a:p>
            <a:endParaRPr lang="en-US" sz="1100" dirty="0"/>
          </a:p>
          <a:p>
            <a:pPr lvl="1"/>
            <a:endParaRPr lang="en-US" sz="11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100" b="1" dirty="0"/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699099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Identifying Critical Path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559210"/>
            <a:ext cx="4431695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endParaRPr lang="en-IN" sz="1100" dirty="0"/>
          </a:p>
          <a:p>
            <a:endParaRPr lang="en-US" sz="1100" dirty="0"/>
          </a:p>
          <a:p>
            <a:pPr lvl="1"/>
            <a:endParaRPr lang="en-US" sz="11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100" b="1" dirty="0"/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2344FE-44AF-432C-87A3-598B5B3E9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39" y="897764"/>
            <a:ext cx="3426594" cy="1712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750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 Float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559210"/>
            <a:ext cx="4431695" cy="8463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100" dirty="0"/>
              <a:t>What if A and C uses float?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IN" sz="1100" dirty="0"/>
          </a:p>
          <a:p>
            <a:endParaRPr lang="en-US" sz="1100" dirty="0"/>
          </a:p>
          <a:p>
            <a:pPr lvl="1"/>
            <a:endParaRPr lang="en-US" sz="11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100" b="1" dirty="0"/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934843-5E62-425D-9C19-95FF62495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79" y="861584"/>
            <a:ext cx="4543124" cy="215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8011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 Float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559210"/>
            <a:ext cx="4431695" cy="25391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/>
            <a:r>
              <a:rPr lang="en-IN" sz="1100" dirty="0"/>
              <a:t>What are other measures?</a:t>
            </a:r>
          </a:p>
          <a:p>
            <a:pPr algn="just"/>
            <a:endParaRPr lang="en-IN" sz="1100" dirty="0"/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IN" sz="1100" dirty="0"/>
              <a:t>Free Float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IN" sz="1100" dirty="0"/>
              <a:t>Interfering Float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IN" sz="1100" dirty="0"/>
          </a:p>
          <a:p>
            <a:r>
              <a:rPr lang="en-US" sz="1100" b="1" dirty="0"/>
              <a:t>Free Float:</a:t>
            </a:r>
          </a:p>
          <a:p>
            <a:r>
              <a:rPr lang="en-US" sz="1100" dirty="0"/>
              <a:t>The amount of time an activity can be delayed without delaying the start of its immediate successor.</a:t>
            </a:r>
          </a:p>
          <a:p>
            <a:r>
              <a:rPr lang="en-US" sz="1100" dirty="0"/>
              <a:t>     Free Float=Earliest Start of Successor−Earliest Finish of Activity</a:t>
            </a:r>
          </a:p>
          <a:p>
            <a:endParaRPr lang="en-US" sz="1100" dirty="0"/>
          </a:p>
          <a:p>
            <a:r>
              <a:rPr lang="en-US" sz="1100" b="1" dirty="0"/>
              <a:t>Interfering Float:</a:t>
            </a:r>
            <a:endParaRPr lang="en-US" sz="1100" dirty="0"/>
          </a:p>
          <a:p>
            <a:r>
              <a:rPr lang="en-IN" sz="1100" dirty="0"/>
              <a:t>The portion of Total Float that, if used, delays successor activities but not the project.</a:t>
            </a:r>
          </a:p>
          <a:p>
            <a:r>
              <a:rPr lang="en-IN" sz="1100" dirty="0"/>
              <a:t>     Interfering Float=Total Float−Free Float</a:t>
            </a:r>
            <a:endParaRPr lang="en-US" sz="11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100" b="1" dirty="0"/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07339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 Float</a:t>
            </a: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D6242D-45B2-4DBC-8E4F-E3DDA7362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39" y="559210"/>
            <a:ext cx="4283861" cy="73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4449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Shortening the project duration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559210"/>
            <a:ext cx="4431695" cy="16927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100" dirty="0"/>
              <a:t>Reduce activity duration -&gt; reduction in total duration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100" dirty="0"/>
              <a:t>In many cases, it will be done</a:t>
            </a:r>
          </a:p>
          <a:p>
            <a:pPr algn="just"/>
            <a:endParaRPr lang="en-IN" sz="1100" dirty="0"/>
          </a:p>
          <a:p>
            <a:pPr lvl="1" algn="just"/>
            <a:r>
              <a:rPr lang="en-IN" sz="1100" dirty="0"/>
              <a:t>Working overtime</a:t>
            </a:r>
          </a:p>
          <a:p>
            <a:pPr lvl="1" algn="just"/>
            <a:r>
              <a:rPr lang="en-IN" sz="1100" dirty="0"/>
              <a:t>Applying more resources</a:t>
            </a:r>
          </a:p>
          <a:p>
            <a:pPr lvl="1" algn="just"/>
            <a:r>
              <a:rPr lang="en-IN" sz="1100" dirty="0"/>
              <a:t>Additional staff</a:t>
            </a:r>
          </a:p>
          <a:p>
            <a:pPr algn="just"/>
            <a:endParaRPr lang="en-US" sz="11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/>
              <a:t>Shorten the critical activities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C889EE-3294-48FC-BA45-7F56D67CB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39" y="2017638"/>
            <a:ext cx="4353446" cy="87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4542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22687</TotalTime>
  <Words>1955</Words>
  <Application>Microsoft Office PowerPoint</Application>
  <PresentationFormat>Custom</PresentationFormat>
  <Paragraphs>401</Paragraphs>
  <Slides>44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宋体</vt:lpstr>
      <vt:lpstr>Arial</vt:lpstr>
      <vt:lpstr>Calibri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Sindhu Alapati</dc:creator>
  <cp:lastModifiedBy>sindhu</cp:lastModifiedBy>
  <cp:revision>913</cp:revision>
  <dcterms:created xsi:type="dcterms:W3CDTF">2011-01-21T15:00:27Z</dcterms:created>
  <dcterms:modified xsi:type="dcterms:W3CDTF">2025-07-25T07:18:51Z</dcterms:modified>
</cp:coreProperties>
</file>