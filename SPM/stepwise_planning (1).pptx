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sldIdLst>
    <p:sldId id="344" r:id="rId2"/>
    <p:sldId id="606" r:id="rId3"/>
    <p:sldId id="629" r:id="rId4"/>
    <p:sldId id="630" r:id="rId5"/>
    <p:sldId id="631" r:id="rId6"/>
    <p:sldId id="632" r:id="rId7"/>
    <p:sldId id="633" r:id="rId8"/>
    <p:sldId id="634" r:id="rId9"/>
    <p:sldId id="635" r:id="rId10"/>
    <p:sldId id="636" r:id="rId11"/>
    <p:sldId id="637" r:id="rId12"/>
    <p:sldId id="638" r:id="rId13"/>
    <p:sldId id="639" r:id="rId14"/>
    <p:sldId id="640" r:id="rId15"/>
    <p:sldId id="641" r:id="rId16"/>
    <p:sldId id="643" r:id="rId17"/>
    <p:sldId id="644" r:id="rId18"/>
    <p:sldId id="645" r:id="rId19"/>
    <p:sldId id="646" r:id="rId20"/>
    <p:sldId id="647" r:id="rId21"/>
    <p:sldId id="649" r:id="rId22"/>
    <p:sldId id="650" r:id="rId23"/>
    <p:sldId id="651" r:id="rId24"/>
    <p:sldId id="652" r:id="rId25"/>
    <p:sldId id="653" r:id="rId26"/>
  </p:sldIdLst>
  <p:sldSz cx="4608513" cy="34559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T AP" initials="NA" lastIdx="1" clrIdx="0">
    <p:extLst>
      <p:ext uri="{19B8F6BF-5375-455C-9EA6-DF929625EA0E}">
        <p15:presenceInfo xmlns:p15="http://schemas.microsoft.com/office/powerpoint/2012/main" userId="NIT A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646B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1254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B7802-094E-4307-A812-AC720EB39FB3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AA1D91-3FC5-4706-942A-2EB178407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06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41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127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664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227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350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201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09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772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38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837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161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36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760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1528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4346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340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419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6209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32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2721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646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821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621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A1D91-3FC5-4706-942A-2EB1784074C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85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3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3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0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6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3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4F96-94B7-463C-9FD0-A63BBE3D5E91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9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86B5-C70E-44B5-AD82-94D4AFCC796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6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4406901"/>
            <a:ext cx="7772400" cy="1362075"/>
          </a:xfrm>
        </p:spPr>
        <p:txBody>
          <a:bodyPr anchor="t"/>
          <a:lstStyle>
            <a:lvl1pPr algn="l">
              <a:defRPr sz="399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1pPr>
            <a:lvl2pPr marL="456697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2pPr>
            <a:lvl3pPr marL="91339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3pPr>
            <a:lvl4pPr marL="1370090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4pPr>
            <a:lvl5pPr marL="182678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5pPr>
            <a:lvl6pPr marL="228348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6pPr>
            <a:lvl7pPr marL="2740181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7pPr>
            <a:lvl8pPr marL="3196878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8pPr>
            <a:lvl9pPr marL="3653575" indent="0">
              <a:buNone/>
              <a:defRPr sz="13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5DC4F-0DC8-4D33-B19A-B6FAFD3868A6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4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00201"/>
            <a:ext cx="4038600" cy="4525963"/>
          </a:xfrm>
        </p:spPr>
        <p:txBody>
          <a:bodyPr/>
          <a:lstStyle>
            <a:lvl1pPr>
              <a:defRPr sz="2797"/>
            </a:lvl1pPr>
            <a:lvl2pPr>
              <a:defRPr sz="2398"/>
            </a:lvl2pPr>
            <a:lvl3pPr>
              <a:defRPr sz="1998"/>
            </a:lvl3pPr>
            <a:lvl4pPr>
              <a:defRPr sz="1798"/>
            </a:lvl4pPr>
            <a:lvl5pPr>
              <a:defRPr sz="1798"/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22916-D7E6-4A6A-8710-06D3C4413E3B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4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697" indent="0">
              <a:buNone/>
              <a:defRPr sz="1998" b="1"/>
            </a:lvl2pPr>
            <a:lvl3pPr marL="913393" indent="0">
              <a:buNone/>
              <a:defRPr sz="1798" b="1"/>
            </a:lvl3pPr>
            <a:lvl4pPr marL="1370090" indent="0">
              <a:buNone/>
              <a:defRPr sz="1598" b="1"/>
            </a:lvl4pPr>
            <a:lvl5pPr marL="1826788" indent="0">
              <a:buNone/>
              <a:defRPr sz="1598" b="1"/>
            </a:lvl5pPr>
            <a:lvl6pPr marL="2283485" indent="0">
              <a:buNone/>
              <a:defRPr sz="1598" b="1"/>
            </a:lvl6pPr>
            <a:lvl7pPr marL="2740181" indent="0">
              <a:buNone/>
              <a:defRPr sz="1598" b="1"/>
            </a:lvl7pPr>
            <a:lvl8pPr marL="3196878" indent="0">
              <a:buNone/>
              <a:defRPr sz="1598" b="1"/>
            </a:lvl8pPr>
            <a:lvl9pPr marL="3653575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398"/>
            </a:lvl1pPr>
            <a:lvl2pPr>
              <a:defRPr sz="1998"/>
            </a:lvl2pPr>
            <a:lvl3pPr>
              <a:defRPr sz="1798"/>
            </a:lvl3pPr>
            <a:lvl4pPr>
              <a:defRPr sz="1598"/>
            </a:lvl4pPr>
            <a:lvl5pPr>
              <a:defRPr sz="1598"/>
            </a:lvl5pPr>
            <a:lvl6pPr>
              <a:defRPr sz="1598"/>
            </a:lvl6pPr>
            <a:lvl7pPr>
              <a:defRPr sz="1598"/>
            </a:lvl7pPr>
            <a:lvl8pPr>
              <a:defRPr sz="1598"/>
            </a:lvl8pPr>
            <a:lvl9pPr>
              <a:defRPr sz="15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B9D93-06BC-495C-8E81-00767E992687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FBE6-780D-4C9B-B5A6-8A4D6CBAB732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4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2716-A65A-44CF-B1C8-1E98812BC267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CA44-A91E-452A-BD59-A23D8632BC32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19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7"/>
            </a:lvl1pPr>
            <a:lvl2pPr marL="456697" indent="0">
              <a:buNone/>
              <a:defRPr sz="2797"/>
            </a:lvl2pPr>
            <a:lvl3pPr marL="913393" indent="0">
              <a:buNone/>
              <a:defRPr sz="2398"/>
            </a:lvl3pPr>
            <a:lvl4pPr marL="1370090" indent="0">
              <a:buNone/>
              <a:defRPr sz="1998"/>
            </a:lvl4pPr>
            <a:lvl5pPr marL="1826788" indent="0">
              <a:buNone/>
              <a:defRPr sz="1998"/>
            </a:lvl5pPr>
            <a:lvl6pPr marL="2283485" indent="0">
              <a:buNone/>
              <a:defRPr sz="1998"/>
            </a:lvl6pPr>
            <a:lvl7pPr marL="2740181" indent="0">
              <a:buNone/>
              <a:defRPr sz="1998"/>
            </a:lvl7pPr>
            <a:lvl8pPr marL="3196878" indent="0">
              <a:buNone/>
              <a:defRPr sz="1998"/>
            </a:lvl8pPr>
            <a:lvl9pPr marL="3653575" indent="0">
              <a:buNone/>
              <a:defRPr sz="19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398"/>
            </a:lvl1pPr>
            <a:lvl2pPr marL="456697" indent="0">
              <a:buNone/>
              <a:defRPr sz="1198"/>
            </a:lvl2pPr>
            <a:lvl3pPr marL="913393" indent="0">
              <a:buNone/>
              <a:defRPr sz="999"/>
            </a:lvl3pPr>
            <a:lvl4pPr marL="1370090" indent="0">
              <a:buNone/>
              <a:defRPr sz="899"/>
            </a:lvl4pPr>
            <a:lvl5pPr marL="1826788" indent="0">
              <a:buNone/>
              <a:defRPr sz="899"/>
            </a:lvl5pPr>
            <a:lvl6pPr marL="2283485" indent="0">
              <a:buNone/>
              <a:defRPr sz="899"/>
            </a:lvl6pPr>
            <a:lvl7pPr marL="2740181" indent="0">
              <a:buNone/>
              <a:defRPr sz="899"/>
            </a:lvl7pPr>
            <a:lvl8pPr marL="3196878" indent="0">
              <a:buNone/>
              <a:defRPr sz="899"/>
            </a:lvl8pPr>
            <a:lvl9pPr marL="3653575" indent="0">
              <a:buNone/>
              <a:defRPr sz="8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C4F7-5933-4283-B003-668DFAB1DE97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29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1B12E-5A0F-4780-BAD8-E5B0EBBF60C0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C7D4-E350-45E3-9BB3-98AF5602D78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17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E90DB-C893-42DF-A794-E3DA1AF971D2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CSE, National Institute of Technology, Andhra Pradesh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456697" rtl="0" eaLnBrk="1" latinLnBrk="0" hangingPunct="1"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523" indent="-342523" algn="l" defTabSz="456697" rtl="0" eaLnBrk="1" latinLnBrk="0" hangingPunct="1">
        <a:spcBef>
          <a:spcPct val="20000"/>
        </a:spcBef>
        <a:buFont typeface="Arial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42133" indent="-285436" algn="l" defTabSz="456697" rtl="0" eaLnBrk="1" latinLnBrk="0" hangingPunct="1">
        <a:spcBef>
          <a:spcPct val="20000"/>
        </a:spcBef>
        <a:buFont typeface="Arial"/>
        <a:buChar char="–"/>
        <a:defRPr sz="2797" kern="1200">
          <a:solidFill>
            <a:schemeClr val="tx1"/>
          </a:solidFill>
          <a:latin typeface="+mn-lt"/>
          <a:ea typeface="+mn-ea"/>
          <a:cs typeface="+mn-cs"/>
        </a:defRPr>
      </a:lvl2pPr>
      <a:lvl3pPr marL="1141742" indent="-228349" algn="l" defTabSz="456697" rtl="0" eaLnBrk="1" latinLnBrk="0" hangingPunct="1">
        <a:spcBef>
          <a:spcPct val="20000"/>
        </a:spcBef>
        <a:buFont typeface="Arial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439" indent="-228349" algn="l" defTabSz="456697" rtl="0" eaLnBrk="1" latinLnBrk="0" hangingPunct="1">
        <a:spcBef>
          <a:spcPct val="20000"/>
        </a:spcBef>
        <a:buFont typeface="Arial"/>
        <a:buChar char="–"/>
        <a:defRPr sz="19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136" indent="-228349" algn="l" defTabSz="456697" rtl="0" eaLnBrk="1" latinLnBrk="0" hangingPunct="1">
        <a:spcBef>
          <a:spcPct val="20000"/>
        </a:spcBef>
        <a:buFont typeface="Arial"/>
        <a:buChar char="»"/>
        <a:defRPr sz="1998" kern="1200">
          <a:solidFill>
            <a:schemeClr val="tx1"/>
          </a:solidFill>
          <a:latin typeface="+mn-lt"/>
          <a:ea typeface="+mn-ea"/>
          <a:cs typeface="+mn-cs"/>
        </a:defRPr>
      </a:lvl5pPr>
      <a:lvl6pPr marL="2511833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530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227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1924" indent="-228349" algn="l" defTabSz="4566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697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393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090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78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48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181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6878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575" algn="l" defTabSz="4566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2379" y="3359177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3393"/>
            <a:endParaRPr lang="en-US" sz="1798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1725C3-A998-4595-9599-9EEC6D541693}"/>
              </a:ext>
            </a:extLst>
          </p:cNvPr>
          <p:cNvSpPr/>
          <p:nvPr/>
        </p:nvSpPr>
        <p:spPr>
          <a:xfrm>
            <a:off x="131654" y="950947"/>
            <a:ext cx="4345204" cy="865389"/>
          </a:xfrm>
          <a:prstGeom prst="roundRect">
            <a:avLst/>
          </a:prstGeom>
          <a:solidFill>
            <a:srgbClr val="4646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Step-wise</a:t>
            </a:r>
            <a:r>
              <a:rPr lang="en-US" dirty="0"/>
              <a:t>: An overview of project planning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79" y="543970"/>
            <a:ext cx="4431695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Step-0: Select Project</a:t>
            </a:r>
          </a:p>
          <a:p>
            <a:pPr fontAlgn="base"/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356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1" dirty="0"/>
              <a:t>Step-1</a:t>
            </a:r>
            <a:r>
              <a:rPr lang="en-US" sz="1100" b="1" i="1" dirty="0"/>
              <a:t>: Identify Project Scope and Objectives</a:t>
            </a:r>
          </a:p>
          <a:p>
            <a:endParaRPr lang="en-US" sz="1100" i="1" dirty="0"/>
          </a:p>
          <a:p>
            <a:r>
              <a:rPr lang="en-US" sz="1100" b="1" dirty="0"/>
              <a:t>1.1 </a:t>
            </a:r>
            <a:r>
              <a:rPr lang="en-US" sz="1100" dirty="0"/>
              <a:t>Identify objectives and measures of effectiveness</a:t>
            </a:r>
          </a:p>
          <a:p>
            <a:r>
              <a:rPr lang="en-US" sz="1100" b="1" dirty="0"/>
              <a:t>Objective</a:t>
            </a:r>
            <a:r>
              <a:rPr lang="en-US" sz="1100" dirty="0"/>
              <a:t>: Automate attendance tracking.</a:t>
            </a:r>
          </a:p>
          <a:p>
            <a:r>
              <a:rPr lang="en-US" sz="1100" b="1" dirty="0"/>
              <a:t>Measure</a:t>
            </a:r>
            <a:r>
              <a:rPr lang="en-US" sz="1100" dirty="0"/>
              <a:t>: Reduce manual errors by 90% within 3 months.</a:t>
            </a:r>
          </a:p>
          <a:p>
            <a:endParaRPr lang="en-US" sz="1100" dirty="0"/>
          </a:p>
          <a:p>
            <a:r>
              <a:rPr lang="en-US" sz="1100" b="1" dirty="0"/>
              <a:t>1.2 </a:t>
            </a:r>
            <a:r>
              <a:rPr lang="en-US" sz="1100" dirty="0"/>
              <a:t>Establish a project authority</a:t>
            </a:r>
          </a:p>
          <a:p>
            <a:r>
              <a:rPr lang="en-US" sz="1100" b="1" dirty="0"/>
              <a:t>Example</a:t>
            </a:r>
            <a:r>
              <a:rPr lang="en-US" sz="1100" dirty="0"/>
              <a:t>: The Head of the CSE Department is appointed as the project authority.</a:t>
            </a:r>
          </a:p>
          <a:p>
            <a:endParaRPr lang="en-US" sz="1100" dirty="0"/>
          </a:p>
          <a:p>
            <a:r>
              <a:rPr lang="en-US" sz="1100" b="1" dirty="0"/>
              <a:t>1.3 </a:t>
            </a:r>
            <a:r>
              <a:rPr lang="en-US" sz="1100" dirty="0"/>
              <a:t>Identify stakeholders and their interests</a:t>
            </a:r>
          </a:p>
          <a:p>
            <a:r>
              <a:rPr lang="en-US" sz="1100" b="1" dirty="0"/>
              <a:t>Faculty</a:t>
            </a:r>
            <a:r>
              <a:rPr lang="en-US" sz="1100" dirty="0"/>
              <a:t>: Quick and easy attendance marking.</a:t>
            </a:r>
          </a:p>
          <a:p>
            <a:r>
              <a:rPr lang="en-US" sz="1100" b="1" dirty="0"/>
              <a:t>Students</a:t>
            </a:r>
            <a:r>
              <a:rPr lang="en-US" sz="1100" dirty="0"/>
              <a:t>: View attendance history.</a:t>
            </a:r>
          </a:p>
          <a:p>
            <a:r>
              <a:rPr lang="en-US" sz="1100" b="1" dirty="0"/>
              <a:t>Admin</a:t>
            </a:r>
            <a:r>
              <a:rPr lang="en-US" sz="1100" dirty="0"/>
              <a:t>: Generate monthly reports.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5804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1.4 </a:t>
            </a:r>
            <a:r>
              <a:rPr lang="en-US" sz="1100" dirty="0"/>
              <a:t>Modify objectives in light of stakeholder analysis</a:t>
            </a:r>
          </a:p>
          <a:p>
            <a:r>
              <a:rPr lang="en-US" sz="1100" b="1" dirty="0"/>
              <a:t>Example</a:t>
            </a:r>
            <a:r>
              <a:rPr lang="en-US" sz="1100" dirty="0"/>
              <a:t>: Add feature to send SMS/email alerts for low attendance.</a:t>
            </a:r>
          </a:p>
          <a:p>
            <a:endParaRPr lang="en-US" sz="1100" dirty="0"/>
          </a:p>
          <a:p>
            <a:r>
              <a:rPr lang="en-US" sz="1100" b="1" dirty="0"/>
              <a:t>1.5 </a:t>
            </a:r>
            <a:r>
              <a:rPr lang="en-US" sz="1100" dirty="0"/>
              <a:t>Establish communication methods with all parties</a:t>
            </a:r>
          </a:p>
          <a:p>
            <a:r>
              <a:rPr lang="en-US" sz="1100" b="1" dirty="0"/>
              <a:t>Example</a:t>
            </a:r>
            <a:r>
              <a:rPr lang="en-US" sz="1100" dirty="0"/>
              <a:t>: Weekly Zoom reviews, Google Drive for documents, WhatsApp group for urgent queries.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-1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Arial"/>
              </a:rPr>
              <a:t>2</a:t>
            </a: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780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723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1" dirty="0"/>
              <a:t>Step-2</a:t>
            </a:r>
            <a:r>
              <a:rPr lang="en-US" sz="1100" b="1" i="1" dirty="0"/>
              <a:t>: Identify Project Infrastructure</a:t>
            </a:r>
          </a:p>
          <a:p>
            <a:endParaRPr lang="en-US" sz="1100" i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Focuses on setting up the environment in which the project will be developed.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Deals with aligning the project with organizational goals, setting technical standards, and organizing the project team.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b="1" dirty="0"/>
              <a:t>2.1 Establish Relationship Between Project and Strategic Planning</a:t>
            </a:r>
          </a:p>
          <a:p>
            <a:r>
              <a:rPr lang="en-US" sz="1100" dirty="0"/>
              <a:t>Understand how the project fits into the organization’s long-term goals or strategic vision.</a:t>
            </a:r>
          </a:p>
          <a:p>
            <a:endParaRPr lang="en-US" sz="1100" dirty="0"/>
          </a:p>
          <a:p>
            <a:r>
              <a:rPr lang="en-US" sz="1100" b="1" dirty="0"/>
              <a:t>Example</a:t>
            </a:r>
            <a:r>
              <a:rPr lang="en-US" sz="1100" dirty="0"/>
              <a:t>: If the college has a digital transformation strategy, the Attendance Management System should align with it (e.g., integrate with student portals).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898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33547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dirty="0"/>
          </a:p>
          <a:p>
            <a:r>
              <a:rPr lang="en-US" sz="1100" b="1" dirty="0"/>
              <a:t>2.2 Identify Installation Standards and Procedures</a:t>
            </a:r>
          </a:p>
          <a:p>
            <a:r>
              <a:rPr lang="en-US" sz="1100" dirty="0"/>
              <a:t>Determine which technologies, platforms, coding standards, and installation protocols should be followed.</a:t>
            </a:r>
          </a:p>
          <a:p>
            <a:r>
              <a:rPr lang="en-US" sz="1100" b="1" dirty="0"/>
              <a:t>Example</a:t>
            </a:r>
            <a:r>
              <a:rPr lang="en-US" sz="1100" dirty="0"/>
              <a:t>: Use institution-approved technologies like Python, MySQL for database, and follow ISO software testing standards.</a:t>
            </a:r>
          </a:p>
          <a:p>
            <a:endParaRPr lang="en-US" sz="1100" dirty="0"/>
          </a:p>
          <a:p>
            <a:r>
              <a:rPr lang="en-US" sz="1200" b="1" dirty="0"/>
              <a:t>2.3 Identify Project Team Organization</a:t>
            </a:r>
          </a:p>
          <a:p>
            <a:r>
              <a:rPr lang="en-US" sz="1200" dirty="0"/>
              <a:t>Define the project team structure—roles, reporting relationships, and communication paths.</a:t>
            </a:r>
          </a:p>
          <a:p>
            <a:r>
              <a:rPr lang="en-US" sz="1200" b="1" dirty="0"/>
              <a:t>Example</a:t>
            </a:r>
            <a:r>
              <a:rPr lang="en-US" sz="1200" dirty="0"/>
              <a:t>:</a:t>
            </a:r>
          </a:p>
          <a:p>
            <a:pPr lvl="1"/>
            <a:r>
              <a:rPr lang="en-US" sz="1200" b="1" dirty="0"/>
              <a:t>Project Manager</a:t>
            </a:r>
            <a:r>
              <a:rPr lang="en-US" sz="1200" dirty="0"/>
              <a:t>: Oversees the timeline and coordination.</a:t>
            </a:r>
          </a:p>
          <a:p>
            <a:pPr lvl="1"/>
            <a:r>
              <a:rPr lang="en-US" sz="1200" b="1" dirty="0"/>
              <a:t>Developers</a:t>
            </a:r>
            <a:r>
              <a:rPr lang="en-US" sz="1200" dirty="0"/>
              <a:t>: Handle design and coding.</a:t>
            </a:r>
          </a:p>
          <a:p>
            <a:pPr lvl="1"/>
            <a:r>
              <a:rPr lang="en-US" sz="1200" b="1" dirty="0"/>
              <a:t>Testers</a:t>
            </a:r>
            <a:r>
              <a:rPr lang="en-US" sz="1200" dirty="0"/>
              <a:t>: Perform validation and verification.</a:t>
            </a:r>
          </a:p>
          <a:p>
            <a:pPr lvl="1"/>
            <a:r>
              <a:rPr lang="en-US" sz="1200" b="1" dirty="0"/>
              <a:t>Faculty Advisor</a:t>
            </a:r>
            <a:r>
              <a:rPr lang="en-US" sz="1200" dirty="0"/>
              <a:t>: Reviews and approves major decisions.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1346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7238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1" dirty="0"/>
              <a:t>Step-3</a:t>
            </a:r>
            <a:r>
              <a:rPr lang="en-US" sz="1100" b="1" i="1" dirty="0"/>
              <a:t>: Analyze project characteristics</a:t>
            </a:r>
          </a:p>
          <a:p>
            <a:endParaRPr lang="en-US" sz="1100" b="1" i="1" dirty="0"/>
          </a:p>
          <a:p>
            <a:r>
              <a:rPr lang="en-IN" sz="1100" b="1" dirty="0"/>
              <a:t>3.1 Distinguish the project as either objective-driven or product-driven</a:t>
            </a:r>
            <a:endParaRPr lang="en-IN" sz="1100" dirty="0"/>
          </a:p>
          <a:p>
            <a:pPr lvl="0"/>
            <a:r>
              <a:rPr lang="en-IN" sz="1100" b="1" dirty="0"/>
              <a:t>Objective-driven:</a:t>
            </a:r>
            <a:r>
              <a:rPr lang="en-IN" sz="1100" dirty="0"/>
              <a:t> Focus is on achieving a goal (e.g., improve customer service).</a:t>
            </a:r>
          </a:p>
          <a:p>
            <a:pPr lvl="0"/>
            <a:r>
              <a:rPr lang="en-IN" sz="1100" b="1" dirty="0"/>
              <a:t>Product-driven:</a:t>
            </a:r>
            <a:r>
              <a:rPr lang="en-IN" sz="1100" dirty="0"/>
              <a:t> Focus is on delivering a specific product (e.g., develop a payroll system).</a:t>
            </a:r>
          </a:p>
          <a:p>
            <a:endParaRPr lang="en-US" sz="1100" i="1" dirty="0"/>
          </a:p>
          <a:p>
            <a:r>
              <a:rPr lang="en-IN" sz="1100" b="1" dirty="0"/>
              <a:t>3.2 Analyse other project characteristics</a:t>
            </a:r>
            <a:endParaRPr lang="en-IN" sz="1100" dirty="0"/>
          </a:p>
          <a:p>
            <a:pPr lvl="0"/>
            <a:r>
              <a:rPr lang="en-IN" sz="1100" dirty="0"/>
              <a:t>Consider:</a:t>
            </a:r>
          </a:p>
          <a:p>
            <a:pPr lvl="1"/>
            <a:r>
              <a:rPr lang="en-IN" sz="1100" dirty="0"/>
              <a:t>Is it an </a:t>
            </a:r>
            <a:r>
              <a:rPr lang="en-IN" sz="1100" b="1" dirty="0"/>
              <a:t>information system</a:t>
            </a:r>
            <a:r>
              <a:rPr lang="en-IN" sz="1100" dirty="0"/>
              <a:t> (for managing data)?</a:t>
            </a:r>
          </a:p>
          <a:p>
            <a:pPr lvl="1"/>
            <a:r>
              <a:rPr lang="en-IN" sz="1100" dirty="0"/>
              <a:t>A </a:t>
            </a:r>
            <a:r>
              <a:rPr lang="en-IN" sz="1100" b="1" dirty="0"/>
              <a:t>process control system</a:t>
            </a:r>
            <a:r>
              <a:rPr lang="en-IN" sz="1100" dirty="0"/>
              <a:t> (e.g., controlling equipment)?</a:t>
            </a:r>
          </a:p>
          <a:p>
            <a:pPr lvl="1"/>
            <a:r>
              <a:rPr lang="en-IN" sz="1100" dirty="0"/>
              <a:t>A </a:t>
            </a:r>
            <a:r>
              <a:rPr lang="en-IN" sz="1100" b="1" dirty="0"/>
              <a:t>safety-critical system</a:t>
            </a:r>
            <a:r>
              <a:rPr lang="en-IN" sz="1100" dirty="0"/>
              <a:t> (where failure could harm people)?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07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436" y="608922"/>
            <a:ext cx="4431695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3.3 Identify high-level project risks</a:t>
            </a:r>
            <a:endParaRPr lang="en-IN" sz="1100" dirty="0"/>
          </a:p>
          <a:p>
            <a:pPr lvl="0"/>
            <a:r>
              <a:rPr lang="en-IN" sz="1100" dirty="0"/>
              <a:t>Think about what might go wrong and impact success.</a:t>
            </a:r>
          </a:p>
          <a:p>
            <a:pPr lvl="0"/>
            <a:r>
              <a:rPr lang="en-IN" sz="1100" dirty="0"/>
              <a:t>Risks may arise from:</a:t>
            </a:r>
          </a:p>
          <a:p>
            <a:pPr lvl="1"/>
            <a:r>
              <a:rPr lang="en-IN" sz="1100" b="1" dirty="0"/>
              <a:t>Development environment</a:t>
            </a:r>
            <a:r>
              <a:rPr lang="en-IN" sz="1100" dirty="0"/>
              <a:t> (e.g., unfamiliar tech)</a:t>
            </a:r>
          </a:p>
          <a:p>
            <a:pPr lvl="1"/>
            <a:r>
              <a:rPr lang="en-IN" sz="1100" b="1" dirty="0"/>
              <a:t>Product nature</a:t>
            </a:r>
            <a:r>
              <a:rPr lang="en-IN" sz="1100" dirty="0"/>
              <a:t> (e.g., complex payroll system)</a:t>
            </a:r>
          </a:p>
          <a:p>
            <a:pPr lvl="1"/>
            <a:r>
              <a:rPr lang="en-IN" sz="1100" b="1" dirty="0"/>
              <a:t>People issues</a:t>
            </a:r>
            <a:r>
              <a:rPr lang="en-IN" sz="1100" dirty="0"/>
              <a:t> (e.g., user resistance to change)</a:t>
            </a:r>
          </a:p>
          <a:p>
            <a:endParaRPr lang="en-US" sz="1100" i="1" dirty="0"/>
          </a:p>
          <a:p>
            <a:r>
              <a:rPr lang="en-IN" sz="1100" b="1" dirty="0"/>
              <a:t>3.4 </a:t>
            </a:r>
            <a:r>
              <a:rPr lang="en-IN" b="1" dirty="0"/>
              <a:t> </a:t>
            </a:r>
            <a:r>
              <a:rPr lang="en-IN" sz="1100" b="1" dirty="0"/>
              <a:t>Take user requirements into account</a:t>
            </a:r>
            <a:endParaRPr lang="en-IN" sz="1100" dirty="0"/>
          </a:p>
          <a:p>
            <a:pPr lvl="0"/>
            <a:r>
              <a:rPr lang="en-IN" sz="1100" b="1" dirty="0"/>
              <a:t>Users may have specific implementation expectations.</a:t>
            </a:r>
            <a:endParaRPr lang="en-IN" sz="1100" dirty="0"/>
          </a:p>
          <a:p>
            <a:r>
              <a:rPr lang="en-IN" sz="1100" dirty="0"/>
              <a:t>Government departments might demand formal procedures </a:t>
            </a:r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7340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436" y="608922"/>
            <a:ext cx="4431695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1100" b="1" dirty="0"/>
              <a:t>3.5 Select general lifecycle approach</a:t>
            </a:r>
            <a:endParaRPr lang="en-IN" sz="1100" dirty="0"/>
          </a:p>
          <a:p>
            <a:pPr lvl="0"/>
            <a:r>
              <a:rPr lang="en-IN" sz="1100" dirty="0"/>
              <a:t>Choose a lifecycle model that best fits the above characteristics and risks:</a:t>
            </a:r>
          </a:p>
          <a:p>
            <a:pPr lvl="1"/>
            <a:r>
              <a:rPr lang="en-IN" sz="1100" dirty="0"/>
              <a:t>e.g., Waterfall, Incremental, Spiral, Agile, etc.</a:t>
            </a:r>
          </a:p>
          <a:p>
            <a:endParaRPr lang="en-US" sz="1100" i="1" dirty="0"/>
          </a:p>
          <a:p>
            <a:r>
              <a:rPr lang="en-IN" sz="1100" b="1" dirty="0"/>
              <a:t>3.6 </a:t>
            </a:r>
            <a:r>
              <a:rPr lang="en-IN" b="1" dirty="0"/>
              <a:t> </a:t>
            </a:r>
            <a:r>
              <a:rPr lang="en-US" sz="1100" b="1" dirty="0"/>
              <a:t>Review overall resource estimates</a:t>
            </a:r>
          </a:p>
          <a:p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4661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30623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i="1" dirty="0"/>
              <a:t>Step-4</a:t>
            </a:r>
            <a:r>
              <a:rPr lang="en-US" sz="1100" b="1" i="1" dirty="0"/>
              <a:t>: Identify project products and activities</a:t>
            </a:r>
          </a:p>
          <a:p>
            <a:r>
              <a:rPr lang="en-IN" sz="1100" b="1" dirty="0"/>
              <a:t>4.1 Identify and describe the project products (or deliverables)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Every project must produce deliverables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This step is about listing and describing all those deliverables the project is expected to create.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 ensures that every activity in the project leads to a clear product, and no activity is done without purpose.</a:t>
            </a:r>
          </a:p>
          <a:p>
            <a:r>
              <a:rPr lang="en-US" sz="1100" b="1" dirty="0"/>
              <a:t>Technical Products</a:t>
            </a:r>
            <a:endParaRPr lang="en-US" sz="1100" dirty="0"/>
          </a:p>
          <a:p>
            <a:pPr lvl="1"/>
            <a:r>
              <a:rPr lang="en-US" sz="1100" dirty="0"/>
              <a:t>Examples: Code, system components, training material, operation manuals.</a:t>
            </a:r>
          </a:p>
          <a:p>
            <a:r>
              <a:rPr lang="en-US" sz="1100" b="1" dirty="0"/>
              <a:t>Management Products</a:t>
            </a:r>
            <a:endParaRPr lang="en-US" sz="1100" dirty="0"/>
          </a:p>
          <a:p>
            <a:pPr lvl="1"/>
            <a:r>
              <a:rPr lang="en-US" sz="1100" dirty="0"/>
              <a:t>Examples: Progress reports, work breakdown structure (WBS)</a:t>
            </a:r>
          </a:p>
          <a:p>
            <a:r>
              <a:rPr lang="en-US" sz="1100" b="1" dirty="0"/>
              <a:t>Quality Products</a:t>
            </a:r>
            <a:endParaRPr lang="en-US" sz="1100" dirty="0"/>
          </a:p>
          <a:p>
            <a:pPr lvl="1"/>
            <a:r>
              <a:rPr lang="en-US" sz="1100" dirty="0"/>
              <a:t>Examples: Test plans, quality assurance checklists, standards compliance documents.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3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4</a:t>
            </a:r>
            <a:r>
              <a:rPr lang="en-IN" sz="1100" b="1" dirty="0"/>
              <a:t>.2 Document generic product flows</a:t>
            </a:r>
          </a:p>
          <a:p>
            <a:endParaRPr lang="en-US" sz="1100" dirty="0"/>
          </a:p>
          <a:p>
            <a:pPr marL="628650" lvl="1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A </a:t>
            </a:r>
            <a:r>
              <a:rPr lang="en-US" sz="1200" b="1" dirty="0"/>
              <a:t>Product Flow Diagram (PFD)</a:t>
            </a:r>
            <a:r>
              <a:rPr lang="en-US" sz="1200" dirty="0"/>
              <a:t> visually shows the </a:t>
            </a:r>
            <a:r>
              <a:rPr lang="en-US" sz="1200" b="1" dirty="0"/>
              <a:t>logical sequence</a:t>
            </a:r>
            <a:r>
              <a:rPr lang="en-US" sz="1200" dirty="0"/>
              <a:t> in which </a:t>
            </a:r>
            <a:r>
              <a:rPr lang="en-US" sz="1200" b="1" dirty="0"/>
              <a:t>project deliverables (products)</a:t>
            </a:r>
            <a:r>
              <a:rPr lang="en-US" sz="1200" dirty="0"/>
              <a:t> must be created.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390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4</a:t>
            </a:r>
            <a:r>
              <a:rPr lang="en-IN" sz="1100" b="1" dirty="0"/>
              <a:t>.2 Document generic product flows</a:t>
            </a:r>
          </a:p>
          <a:p>
            <a:endParaRPr lang="en-US" sz="1100" dirty="0"/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3A0440-01E6-46D8-A29E-41A0DB841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" y="726767"/>
            <a:ext cx="3791702" cy="243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89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4</a:t>
            </a:r>
            <a:r>
              <a:rPr lang="en-IN" sz="1100" b="1" dirty="0"/>
              <a:t>.3 Recognize Product Instances</a:t>
            </a:r>
          </a:p>
          <a:p>
            <a:endParaRPr lang="en-US" sz="1100" dirty="0"/>
          </a:p>
          <a:p>
            <a:pPr lvl="1" fontAlgn="base"/>
            <a:r>
              <a:rPr lang="en-US" sz="1100" dirty="0"/>
              <a:t>Sometimes, a general idea or module (called a “generic product”) can have multiple versions or pieces (called “instances”).</a:t>
            </a:r>
          </a:p>
          <a:p>
            <a:pPr lvl="1" fontAlgn="base"/>
            <a:endParaRPr lang="en-US" sz="1100" dirty="0"/>
          </a:p>
          <a:p>
            <a:r>
              <a:rPr lang="en-US" sz="1100" b="1" dirty="0"/>
              <a:t>4.4 Produce Ideal Activity Network</a:t>
            </a:r>
          </a:p>
          <a:p>
            <a:r>
              <a:rPr lang="en-US" sz="1100" b="1" dirty="0"/>
              <a:t>What it means</a:t>
            </a:r>
            <a:r>
              <a:rPr lang="en-US" sz="1100" dirty="0"/>
              <a:t>:</a:t>
            </a:r>
            <a:br>
              <a:rPr lang="en-US" sz="1100" dirty="0"/>
            </a:br>
            <a:r>
              <a:rPr lang="en-US" sz="1100" dirty="0"/>
              <a:t>To go from one product (or step) to another, we need a set of activities. This step is about:</a:t>
            </a:r>
          </a:p>
          <a:p>
            <a:r>
              <a:rPr lang="en-US" sz="1100" dirty="0"/>
              <a:t>Listing </a:t>
            </a:r>
            <a:r>
              <a:rPr lang="en-US" sz="1100" b="1" dirty="0"/>
              <a:t>what tasks</a:t>
            </a:r>
            <a:r>
              <a:rPr lang="en-US" sz="1100" dirty="0"/>
              <a:t> need to be done</a:t>
            </a:r>
          </a:p>
          <a:p>
            <a:r>
              <a:rPr lang="en-US" sz="1100" dirty="0"/>
              <a:t>Putting them in </a:t>
            </a:r>
            <a:r>
              <a:rPr lang="en-US" sz="1100" b="1" dirty="0"/>
              <a:t>correct order</a:t>
            </a:r>
            <a:endParaRPr lang="en-US" sz="1100" dirty="0"/>
          </a:p>
          <a:p>
            <a:r>
              <a:rPr lang="en-US" sz="1100" dirty="0"/>
              <a:t>Creating an </a:t>
            </a:r>
            <a:r>
              <a:rPr lang="en-US" sz="1100" b="1" dirty="0"/>
              <a:t>activity network</a:t>
            </a:r>
            <a:r>
              <a:rPr lang="en-US" sz="1100" dirty="0"/>
              <a:t> (like a flowchart)</a:t>
            </a:r>
          </a:p>
          <a:p>
            <a:pPr lvl="1" fontAlgn="base"/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2042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4</a:t>
            </a:r>
            <a:r>
              <a:rPr lang="en-IN" sz="1100" b="1" dirty="0"/>
              <a:t>.5 </a:t>
            </a:r>
            <a:r>
              <a:rPr lang="en-US" sz="1100" b="1" dirty="0"/>
              <a:t>Modify the Ideal to Take into Account Need for Stages and Checkpoints</a:t>
            </a:r>
          </a:p>
          <a:p>
            <a:endParaRPr lang="en-US" sz="1100" b="1" dirty="0"/>
          </a:p>
          <a:p>
            <a:r>
              <a:rPr lang="en-US" sz="1100" b="1" dirty="0"/>
              <a:t>5: Estimate Effort for Each Activity</a:t>
            </a:r>
          </a:p>
          <a:p>
            <a:endParaRPr lang="en-US" sz="1100" b="1" dirty="0"/>
          </a:p>
          <a:p>
            <a:r>
              <a:rPr lang="en-US" sz="1100" b="1" dirty="0"/>
              <a:t>5.1: Carry Out Bottom-Up Estimates</a:t>
            </a:r>
          </a:p>
          <a:p>
            <a:r>
              <a:rPr lang="en-US" sz="1100" b="1" dirty="0"/>
              <a:t>What it means:</a:t>
            </a:r>
            <a:br>
              <a:rPr lang="en-US" sz="1100" dirty="0"/>
            </a:br>
            <a:r>
              <a:rPr lang="en-US" sz="1100" dirty="0"/>
              <a:t>Estimate the effort (like staff time, resources) needed for each individual task/activity in the project.</a:t>
            </a:r>
          </a:p>
          <a:p>
            <a:r>
              <a:rPr lang="en-US" sz="1100" b="1" dirty="0"/>
              <a:t>Bottom-up estimation</a:t>
            </a:r>
            <a:r>
              <a:rPr lang="en-US" sz="1100" dirty="0"/>
              <a:t> involves:</a:t>
            </a:r>
          </a:p>
          <a:p>
            <a:pPr lvl="1"/>
            <a:r>
              <a:rPr lang="en-US" sz="1100" dirty="0"/>
              <a:t>Starting from the </a:t>
            </a:r>
            <a:r>
              <a:rPr lang="en-US" sz="1100" b="1" dirty="0"/>
              <a:t>lowest level</a:t>
            </a:r>
            <a:r>
              <a:rPr lang="en-US" sz="1100" dirty="0"/>
              <a:t> (individual tasks).</a:t>
            </a:r>
          </a:p>
          <a:p>
            <a:pPr lvl="1"/>
            <a:r>
              <a:rPr lang="en-US" sz="1100" dirty="0"/>
              <a:t>Adding up the effort to get the total estimate for the project.</a:t>
            </a:r>
          </a:p>
          <a:p>
            <a:r>
              <a:rPr lang="en-US" sz="1100" dirty="0"/>
              <a:t>These estimates will:</a:t>
            </a:r>
          </a:p>
          <a:p>
            <a:pPr lvl="1"/>
            <a:r>
              <a:rPr lang="en-US" sz="1100" dirty="0"/>
              <a:t>Be based on the type of task (e.g., coding, testing).</a:t>
            </a:r>
          </a:p>
          <a:p>
            <a:pPr lvl="1"/>
            <a:r>
              <a:rPr lang="en-US" sz="1100" dirty="0"/>
              <a:t>Help calculate the total </a:t>
            </a:r>
            <a:r>
              <a:rPr lang="en-US" sz="1100" b="1" dirty="0"/>
              <a:t>elapsed time</a:t>
            </a:r>
            <a:r>
              <a:rPr lang="en-US" sz="1100" dirty="0"/>
              <a:t> for the project.</a:t>
            </a:r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7661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5.2 : Revise Plan to Create Controllable Activities</a:t>
            </a:r>
          </a:p>
          <a:p>
            <a:r>
              <a:rPr lang="en-US" sz="1100" b="1" dirty="0"/>
              <a:t>Why revise?</a:t>
            </a:r>
            <a:br>
              <a:rPr lang="en-US" sz="1100" dirty="0"/>
            </a:br>
            <a:r>
              <a:rPr lang="en-US" sz="1100" dirty="0"/>
              <a:t>Some tasks might be too long or too vague, making it hard to track progress.</a:t>
            </a:r>
          </a:p>
          <a:p>
            <a:r>
              <a:rPr lang="en-US" sz="1100" b="1" dirty="0"/>
              <a:t>Example:</a:t>
            </a:r>
            <a:br>
              <a:rPr lang="en-US" sz="1100" dirty="0"/>
            </a:br>
            <a:r>
              <a:rPr lang="en-US" sz="1100" dirty="0"/>
              <a:t>Suppose a task like “System Testing” is estimated to take </a:t>
            </a:r>
            <a:r>
              <a:rPr lang="en-US" sz="1100" b="1" dirty="0"/>
              <a:t>12 weeks</a:t>
            </a:r>
            <a:r>
              <a:rPr lang="en-US" sz="1100" dirty="0"/>
              <a:t>.</a:t>
            </a:r>
            <a:br>
              <a:rPr lang="en-US" sz="1100" dirty="0"/>
            </a:br>
            <a:r>
              <a:rPr lang="en-US" sz="1100" dirty="0"/>
              <a:t>After 6 weeks, it's hard to tell if 50% of testing is actually done.</a:t>
            </a:r>
          </a:p>
          <a:p>
            <a:r>
              <a:rPr lang="en-US" sz="1100" b="1" dirty="0"/>
              <a:t>Solution:</a:t>
            </a:r>
            <a:br>
              <a:rPr lang="en-US" sz="1100" dirty="0"/>
            </a:br>
            <a:r>
              <a:rPr lang="en-US" sz="1100" dirty="0"/>
              <a:t>Break long activities into </a:t>
            </a:r>
            <a:r>
              <a:rPr lang="en-US" sz="1100" b="1" dirty="0"/>
              <a:t>smaller, manageable sub-tasks</a:t>
            </a:r>
            <a:r>
              <a:rPr lang="en-US" sz="1100" dirty="0"/>
              <a:t> (e.g., “Login module testing,” “Payment module testing”).</a:t>
            </a:r>
          </a:p>
          <a:p>
            <a:r>
              <a:rPr lang="en-US" sz="1100" dirty="0"/>
              <a:t> </a:t>
            </a:r>
            <a:r>
              <a:rPr lang="en-US" sz="1100" b="1" dirty="0"/>
              <a:t>Benefits:</a:t>
            </a:r>
            <a:endParaRPr lang="en-US" sz="1100" dirty="0"/>
          </a:p>
          <a:p>
            <a:r>
              <a:rPr lang="en-US" sz="1100" dirty="0"/>
              <a:t>Makes tracking progress easier.</a:t>
            </a:r>
          </a:p>
          <a:p>
            <a:r>
              <a:rPr lang="en-US" sz="1100" dirty="0"/>
              <a:t>Helps in early detection of delays.</a:t>
            </a:r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761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6 Identify activity risks</a:t>
            </a:r>
          </a:p>
          <a:p>
            <a:endParaRPr lang="en-US" sz="1100" b="1" dirty="0"/>
          </a:p>
          <a:p>
            <a:r>
              <a:rPr lang="en-US" sz="1100" b="1" dirty="0"/>
              <a:t>6.1: Identify and Quantify Activity-Based Risks</a:t>
            </a:r>
          </a:p>
          <a:p>
            <a:endParaRPr lang="en-US" sz="1100" b="1" dirty="0"/>
          </a:p>
          <a:p>
            <a:r>
              <a:rPr lang="en-US" sz="1100" dirty="0"/>
              <a:t>This step involves identifying specific risks for each activity in the project. For every task or activity, we analyze:</a:t>
            </a:r>
          </a:p>
          <a:p>
            <a:r>
              <a:rPr lang="en-US" sz="1100" dirty="0"/>
              <a:t>What could go wrong?</a:t>
            </a:r>
          </a:p>
          <a:p>
            <a:r>
              <a:rPr lang="en-US" sz="1100" dirty="0"/>
              <a:t>How likely is it to happen? (Likelihood)</a:t>
            </a:r>
          </a:p>
          <a:p>
            <a:r>
              <a:rPr lang="en-US" sz="1100" dirty="0"/>
              <a:t>How bad would it be if it happened? (Impact)</a:t>
            </a:r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450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6.2: Plan Risk Reduction and Contingency Measures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how to reduce the chance</a:t>
            </a:r>
            <a:r>
              <a:rPr lang="en-US" sz="1100" dirty="0"/>
              <a:t> of the risk happening (risk reduction), and </a:t>
            </a:r>
            <a:r>
              <a:rPr lang="en-US" sz="1100" b="1" dirty="0"/>
              <a:t>what to do if it does happen</a:t>
            </a:r>
            <a:r>
              <a:rPr lang="en-US" sz="1100" dirty="0"/>
              <a:t> (contingency plan).</a:t>
            </a:r>
          </a:p>
          <a:p>
            <a:r>
              <a:rPr lang="en-US" sz="1100" b="1" dirty="0"/>
              <a:t>Example</a:t>
            </a:r>
          </a:p>
          <a:p>
            <a:r>
              <a:rPr lang="en-US" sz="1100" dirty="0"/>
              <a:t>Continuing the login module risk from Step 6.1:</a:t>
            </a:r>
          </a:p>
          <a:p>
            <a:r>
              <a:rPr lang="en-US" sz="1100" b="1" dirty="0"/>
              <a:t>Risk Reduction:</a:t>
            </a:r>
            <a:r>
              <a:rPr lang="en-US" sz="1100" dirty="0"/>
              <a:t> Assign a second developer to learn the login module code (backup).</a:t>
            </a:r>
          </a:p>
          <a:p>
            <a:r>
              <a:rPr lang="en-US" sz="1100" b="1" dirty="0"/>
              <a:t>Contingency Plan:</a:t>
            </a:r>
            <a:r>
              <a:rPr lang="en-US" sz="1100" dirty="0"/>
              <a:t> If the main developer is unavailable, the backup will take over, or a freelancer will be hired.</a:t>
            </a:r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9070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6.3: Adjust Overall Plans and Estimates to Take Account of Risks</a:t>
            </a:r>
          </a:p>
          <a:p>
            <a:endParaRPr lang="en-US" sz="1100" dirty="0"/>
          </a:p>
          <a:p>
            <a:r>
              <a:rPr lang="en-US" sz="1100" dirty="0"/>
              <a:t>After identifying risks and planning responses, </a:t>
            </a:r>
            <a:r>
              <a:rPr lang="en-US" sz="1100" b="1" dirty="0"/>
              <a:t>adjust your project schedule, budget, or resources</a:t>
            </a:r>
            <a:r>
              <a:rPr lang="en-US" sz="1100" dirty="0"/>
              <a:t> to reflect these risks. </a:t>
            </a:r>
          </a:p>
          <a:p>
            <a:r>
              <a:rPr lang="en-US" sz="1100" dirty="0"/>
              <a:t>Makes plan more realistic and less likely to fail.</a:t>
            </a:r>
          </a:p>
          <a:p>
            <a:r>
              <a:rPr lang="en-US" sz="1100" b="1" dirty="0"/>
              <a:t>Example:</a:t>
            </a:r>
          </a:p>
          <a:p>
            <a:r>
              <a:rPr lang="en-US" sz="1100" dirty="0"/>
              <a:t>Because the login module is risky:</a:t>
            </a:r>
          </a:p>
          <a:p>
            <a:r>
              <a:rPr lang="en-US" sz="1100" dirty="0"/>
              <a:t>Add </a:t>
            </a:r>
            <a:r>
              <a:rPr lang="en-US" sz="1100" b="1" dirty="0"/>
              <a:t>2 extra buffer days</a:t>
            </a:r>
            <a:r>
              <a:rPr lang="en-US" sz="1100" dirty="0"/>
              <a:t> to the schedule.</a:t>
            </a:r>
          </a:p>
          <a:p>
            <a:r>
              <a:rPr lang="en-US" sz="1100" dirty="0"/>
              <a:t>Allocate </a:t>
            </a:r>
            <a:r>
              <a:rPr lang="en-US" sz="1100" b="1" dirty="0"/>
              <a:t>training time</a:t>
            </a:r>
            <a:r>
              <a:rPr lang="en-US" sz="1100" dirty="0"/>
              <a:t> for the backup developer.</a:t>
            </a:r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122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7 Allocate Resources</a:t>
            </a:r>
          </a:p>
          <a:p>
            <a:endParaRPr lang="en-US" sz="1100" dirty="0"/>
          </a:p>
          <a:p>
            <a:r>
              <a:rPr lang="en-US" sz="1100" b="1" dirty="0"/>
              <a:t>7.1: Identify and Allocate Resources</a:t>
            </a:r>
          </a:p>
          <a:p>
            <a:r>
              <a:rPr lang="en-US" sz="1100" dirty="0"/>
              <a:t>This step involves identifying what </a:t>
            </a:r>
            <a:r>
              <a:rPr lang="en-US" sz="1100" b="1" dirty="0"/>
              <a:t>resources (mainly staff or team members)</a:t>
            </a:r>
            <a:r>
              <a:rPr lang="en-US" sz="1100" dirty="0"/>
              <a:t> are needed to complete each activity. It ensures the </a:t>
            </a:r>
            <a:r>
              <a:rPr lang="en-US" sz="1100" b="1" dirty="0"/>
              <a:t>right people</a:t>
            </a:r>
            <a:r>
              <a:rPr lang="en-US" sz="1100" dirty="0"/>
              <a:t> are assigned to the </a:t>
            </a:r>
            <a:r>
              <a:rPr lang="en-US" sz="1100" b="1" dirty="0"/>
              <a:t>right tasks</a:t>
            </a:r>
            <a:r>
              <a:rPr lang="en-US" sz="1100" dirty="0"/>
              <a:t>.</a:t>
            </a:r>
          </a:p>
          <a:p>
            <a:endParaRPr lang="en-US" sz="1100" b="1" dirty="0"/>
          </a:p>
          <a:p>
            <a:r>
              <a:rPr lang="en-US" sz="1100" b="1" dirty="0"/>
              <a:t> Example:</a:t>
            </a:r>
          </a:p>
          <a:p>
            <a:r>
              <a:rPr lang="en-US" sz="1100" dirty="0"/>
              <a:t>For a </a:t>
            </a:r>
            <a:r>
              <a:rPr lang="en-US" sz="1100" b="1" dirty="0"/>
              <a:t>student attendance tracking system</a:t>
            </a:r>
            <a:r>
              <a:rPr lang="en-US" sz="1100" dirty="0"/>
              <a:t>, you might assign:</a:t>
            </a:r>
          </a:p>
          <a:p>
            <a:pPr lvl="1"/>
            <a:r>
              <a:rPr lang="en-US" sz="1100" dirty="0"/>
              <a:t>Developer A for </a:t>
            </a:r>
            <a:r>
              <a:rPr lang="en-US" sz="1100" b="1" dirty="0"/>
              <a:t>frontend UI</a:t>
            </a:r>
            <a:endParaRPr lang="en-US" sz="1100" dirty="0"/>
          </a:p>
          <a:p>
            <a:pPr lvl="1"/>
            <a:r>
              <a:rPr lang="en-US" sz="1100" dirty="0"/>
              <a:t>Developer B for </a:t>
            </a:r>
            <a:r>
              <a:rPr lang="en-US" sz="1100" b="1" dirty="0"/>
              <a:t>backend logic</a:t>
            </a:r>
            <a:endParaRPr lang="en-US" sz="1100" dirty="0"/>
          </a:p>
          <a:p>
            <a:pPr lvl="1"/>
            <a:r>
              <a:rPr lang="en-US" sz="1100" dirty="0"/>
              <a:t>Tester C for </a:t>
            </a:r>
            <a:r>
              <a:rPr lang="en-US" sz="1100" b="1" dirty="0"/>
              <a:t>module testing</a:t>
            </a:r>
            <a:endParaRPr lang="en-US" sz="1100" dirty="0"/>
          </a:p>
          <a:p>
            <a:r>
              <a:rPr lang="en-US" sz="1100" dirty="0"/>
              <a:t>Each team member is provisionally assigned based on their skills and availability.</a:t>
            </a:r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9451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/>
            <a:r>
              <a:rPr lang="en-US" sz="1100" b="1" dirty="0"/>
              <a:t>7.2: Revise Plans and Estimates to Take Resource Constraints into Account</a:t>
            </a:r>
          </a:p>
          <a:p>
            <a:pPr algn="just"/>
            <a:endParaRPr lang="en-US" sz="1100" dirty="0"/>
          </a:p>
          <a:p>
            <a:pPr algn="just"/>
            <a:r>
              <a:rPr lang="en-US" sz="1100" dirty="0"/>
              <a:t>Sometimes, the same person may be needed for </a:t>
            </a:r>
            <a:r>
              <a:rPr lang="en-US" sz="1100" b="1" dirty="0"/>
              <a:t>multiple tasks at the same time</a:t>
            </a:r>
            <a:r>
              <a:rPr lang="en-US" sz="1100" dirty="0"/>
              <a:t>. Since a person can’t work on two things simultaneously, you need to </a:t>
            </a:r>
            <a:r>
              <a:rPr lang="en-US" sz="1100" b="1" dirty="0"/>
              <a:t>set priorities</a:t>
            </a:r>
            <a:r>
              <a:rPr lang="en-US" sz="1100" dirty="0"/>
              <a:t> and </a:t>
            </a:r>
            <a:r>
              <a:rPr lang="en-US" sz="1100" b="1" dirty="0"/>
              <a:t>adjust the timeline</a:t>
            </a:r>
            <a:r>
              <a:rPr lang="en-US" sz="1100" dirty="0"/>
              <a:t>.</a:t>
            </a:r>
          </a:p>
          <a:p>
            <a:pPr algn="just"/>
            <a:r>
              <a:rPr lang="en-US" sz="1100" b="1" dirty="0"/>
              <a:t>Example:</a:t>
            </a:r>
          </a:p>
          <a:p>
            <a:pPr algn="just"/>
            <a:r>
              <a:rPr lang="en-US" sz="1100" dirty="0"/>
              <a:t>Developer A is assigned to both:</a:t>
            </a:r>
          </a:p>
          <a:p>
            <a:pPr lvl="1" algn="just"/>
            <a:r>
              <a:rPr lang="en-US" sz="1100" dirty="0"/>
              <a:t>Design UI for login module</a:t>
            </a:r>
          </a:p>
          <a:p>
            <a:pPr lvl="1" algn="just"/>
            <a:r>
              <a:rPr lang="en-US" sz="1100" dirty="0"/>
              <a:t>Build dashboard module</a:t>
            </a:r>
          </a:p>
          <a:p>
            <a:pPr algn="just"/>
            <a:r>
              <a:rPr lang="en-US" sz="1100" dirty="0"/>
              <a:t>If both tasks are scheduled to happen at the same time, one must be delayed or given to someone else. This will </a:t>
            </a:r>
            <a:r>
              <a:rPr lang="en-US" sz="1100" b="1" dirty="0"/>
              <a:t>affect the overall project duration</a:t>
            </a:r>
            <a:r>
              <a:rPr lang="en-US" sz="1100" dirty="0"/>
              <a:t>.</a:t>
            </a:r>
          </a:p>
          <a:p>
            <a:endParaRPr lang="en-US" sz="1100" b="1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832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2006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8 Review Plan</a:t>
            </a:r>
          </a:p>
          <a:p>
            <a:endParaRPr lang="en-US" sz="1100" dirty="0"/>
          </a:p>
          <a:p>
            <a:r>
              <a:rPr lang="en-US" sz="1100" b="1" dirty="0"/>
              <a:t>8.1 </a:t>
            </a:r>
            <a:r>
              <a:rPr lang="en-IN" sz="1100" b="1" dirty="0"/>
              <a:t>Review Quality Aspects of the Project Plan</a:t>
            </a:r>
            <a:endParaRPr lang="en-US" sz="1100" b="1" dirty="0"/>
          </a:p>
          <a:p>
            <a:endParaRPr lang="en-US" sz="1100" b="1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During project execution, it’s possible to </a:t>
            </a:r>
            <a:r>
              <a:rPr lang="en-IN" sz="1100" b="1" dirty="0"/>
              <a:t>discover that earlier tasks were not properly completed</a:t>
            </a:r>
            <a:r>
              <a:rPr lang="en-IN" sz="1100" dirty="0"/>
              <a:t>. If such issues are not caught early, they may cause </a:t>
            </a:r>
            <a:r>
              <a:rPr lang="en-IN" sz="1100" b="1" dirty="0"/>
              <a:t>major delays or failures</a:t>
            </a:r>
            <a:r>
              <a:rPr lang="en-IN" sz="1100" dirty="0"/>
              <a:t> later. Therefore, each task must be checked for </a:t>
            </a:r>
            <a:r>
              <a:rPr lang="en-IN" sz="1100" b="1" dirty="0"/>
              <a:t>quality</a:t>
            </a:r>
            <a:r>
              <a:rPr lang="en-IN" sz="1100" dirty="0"/>
              <a:t> before marking it as done.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dirty="0"/>
              <a:t>These checks are called </a:t>
            </a:r>
            <a:r>
              <a:rPr lang="en-IN" sz="1100" b="1" dirty="0"/>
              <a:t>“exit requirements”</a:t>
            </a:r>
            <a:r>
              <a:rPr lang="en-IN" sz="1100" dirty="0"/>
              <a:t> – standards or conditions that a task must meet before it can be signed off.</a:t>
            </a:r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3371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5391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sz="1100" dirty="0"/>
          </a:p>
          <a:p>
            <a:r>
              <a:rPr lang="en-US" sz="1100" b="1" dirty="0"/>
              <a:t>8.1 </a:t>
            </a:r>
            <a:r>
              <a:rPr lang="en-IN" sz="1100" b="1" dirty="0"/>
              <a:t>Review Quality Aspects of the Project Plan</a:t>
            </a:r>
            <a:endParaRPr lang="en-US" sz="1100" b="1" dirty="0"/>
          </a:p>
          <a:p>
            <a:endParaRPr lang="en-US" sz="1100" b="1" dirty="0"/>
          </a:p>
          <a:p>
            <a:r>
              <a:rPr lang="en-IN" sz="1100" b="1" dirty="0"/>
              <a:t>Example:</a:t>
            </a:r>
            <a:endParaRPr lang="en-IN" sz="1100" dirty="0"/>
          </a:p>
          <a:p>
            <a:pPr lvl="0"/>
            <a:r>
              <a:rPr lang="en-IN" sz="1100" dirty="0"/>
              <a:t>Suppose a task is to </a:t>
            </a:r>
            <a:r>
              <a:rPr lang="en-IN" sz="1100" b="1" dirty="0"/>
              <a:t>create a login page</a:t>
            </a:r>
            <a:r>
              <a:rPr lang="en-IN" sz="1100" dirty="0"/>
              <a:t> for an application.</a:t>
            </a:r>
          </a:p>
          <a:p>
            <a:pPr lvl="0"/>
            <a:r>
              <a:rPr lang="en-IN" sz="1100" dirty="0"/>
              <a:t>The exit requirements might include: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Page loads in less than 2 seconds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Validation for username and password works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Errors are displayed properly for invalid input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100" dirty="0"/>
              <a:t>Code is peer-reviewed and approved</a:t>
            </a:r>
          </a:p>
          <a:p>
            <a:r>
              <a:rPr lang="en-IN" sz="1100" dirty="0"/>
              <a:t>If any of these checks fail, the task should </a:t>
            </a:r>
            <a:r>
              <a:rPr lang="en-IN" sz="1100" b="1" dirty="0"/>
              <a:t>not be considered complete</a:t>
            </a:r>
            <a:r>
              <a:rPr lang="en-IN" sz="1100" dirty="0"/>
              <a:t>, even if the coding is done.</a:t>
            </a:r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1823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8.2: Document Plans and Obtain Agreement</a:t>
            </a:r>
          </a:p>
          <a:p>
            <a:endParaRPr lang="en-US" sz="1100" b="1" dirty="0"/>
          </a:p>
          <a:p>
            <a:r>
              <a:rPr lang="en-US" sz="1100" dirty="0"/>
              <a:t>All the plans prepared for the project must be </a:t>
            </a:r>
            <a:r>
              <a:rPr lang="en-US" sz="1100" b="1" dirty="0"/>
              <a:t>clearly documented</a:t>
            </a:r>
            <a:r>
              <a:rPr lang="en-US" sz="1100" dirty="0"/>
              <a:t> and </a:t>
            </a:r>
            <a:r>
              <a:rPr lang="en-US" sz="1100" b="1" dirty="0"/>
              <a:t>shared with all stakeholders</a:t>
            </a:r>
            <a:r>
              <a:rPr lang="en-US" sz="1100" dirty="0"/>
              <a:t> (e.g., team members, clients, management).</a:t>
            </a:r>
          </a:p>
          <a:p>
            <a:r>
              <a:rPr lang="en-US" sz="1100" dirty="0"/>
              <a:t> Everyone involved must: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Understand</a:t>
            </a:r>
            <a:r>
              <a:rPr lang="en-US" sz="1100" dirty="0"/>
              <a:t> what the project requires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Agree</a:t>
            </a:r>
            <a:r>
              <a:rPr lang="en-US" sz="1100" dirty="0"/>
              <a:t> to their responsibilities</a:t>
            </a:r>
          </a:p>
          <a:p>
            <a:r>
              <a:rPr lang="en-US" sz="1100" dirty="0"/>
              <a:t>This helps avoid confusion later.</a:t>
            </a:r>
          </a:p>
          <a:p>
            <a:r>
              <a:rPr lang="en-US" sz="1100" b="1" dirty="0"/>
              <a:t>Example:</a:t>
            </a:r>
          </a:p>
          <a:p>
            <a:r>
              <a:rPr lang="en-US" sz="1100" dirty="0"/>
              <a:t>You plan to launch a new student attendance system. Before starting:</a:t>
            </a:r>
          </a:p>
          <a:p>
            <a:r>
              <a:rPr lang="en-US" sz="1100" dirty="0"/>
              <a:t>You write down the plan for design, development, and testing</a:t>
            </a:r>
          </a:p>
          <a:p>
            <a:r>
              <a:rPr lang="en-US" sz="1100" dirty="0"/>
              <a:t>You send the plan to the client and your team</a:t>
            </a:r>
          </a:p>
          <a:p>
            <a:r>
              <a:rPr lang="en-US" sz="1100" dirty="0"/>
              <a:t>They review and </a:t>
            </a:r>
            <a:r>
              <a:rPr lang="en-US" sz="1100" b="1" dirty="0"/>
              <a:t>agree to the timeline and their roles</a:t>
            </a:r>
            <a:endParaRPr lang="en-US" sz="1100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886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9 Execute Plan</a:t>
            </a:r>
          </a:p>
          <a:p>
            <a:endParaRPr lang="en-US" sz="1100" b="1" dirty="0"/>
          </a:p>
          <a:p>
            <a:r>
              <a:rPr lang="en-US" sz="1100" dirty="0"/>
              <a:t>The tasks described in the plan are carried out. The project manager: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Monitors progress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Ensures tasks are done on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Handles any issues that arise</a:t>
            </a:r>
          </a:p>
          <a:p>
            <a:endParaRPr lang="en-US" sz="1100" dirty="0"/>
          </a:p>
          <a:p>
            <a:r>
              <a:rPr lang="en-US" sz="1100" b="1" dirty="0"/>
              <a:t>Example:</a:t>
            </a:r>
          </a:p>
          <a:p>
            <a:r>
              <a:rPr lang="en-US" sz="1100" dirty="0"/>
              <a:t>The development team begins coding the login module. The manager checks:</a:t>
            </a:r>
          </a:p>
          <a:p>
            <a:r>
              <a:rPr lang="en-US" sz="1100" dirty="0"/>
              <a:t>Is it being done according to plan?</a:t>
            </a:r>
          </a:p>
          <a:p>
            <a:r>
              <a:rPr lang="en-US" sz="1100" dirty="0"/>
              <a:t>Are there any delays?</a:t>
            </a:r>
          </a:p>
          <a:p>
            <a:endParaRPr lang="en-US" sz="1100" b="1" dirty="0"/>
          </a:p>
          <a:p>
            <a:endParaRPr lang="en-US" sz="1100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5032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0"/>
          <p:cNvSpPr/>
          <p:nvPr/>
        </p:nvSpPr>
        <p:spPr>
          <a:xfrm>
            <a:off x="2378" y="1785"/>
            <a:ext cx="4603757" cy="336543"/>
          </a:xfrm>
          <a:custGeom>
            <a:avLst/>
            <a:gdLst>
              <a:gd name="connsiteX0" fmla="*/ 0 w 2303995"/>
              <a:gd name="connsiteY0" fmla="*/ 140017 h 140017"/>
              <a:gd name="connsiteX1" fmla="*/ 2303995 w 2303995"/>
              <a:gd name="connsiteY1" fmla="*/ 140017 h 140017"/>
              <a:gd name="connsiteX2" fmla="*/ 2303995 w 2303995"/>
              <a:gd name="connsiteY2" fmla="*/ 0 h 140017"/>
              <a:gd name="connsiteX3" fmla="*/ 0 w 2303995"/>
              <a:gd name="connsiteY3" fmla="*/ 0 h 140017"/>
              <a:gd name="connsiteX4" fmla="*/ 0 w 2303995"/>
              <a:gd name="connsiteY4" fmla="*/ 140017 h 140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3995" h="140017">
                <a:moveTo>
                  <a:pt x="0" y="140017"/>
                </a:moveTo>
                <a:lnTo>
                  <a:pt x="2303995" y="140017"/>
                </a:lnTo>
                <a:lnTo>
                  <a:pt x="2303995" y="0"/>
                </a:lnTo>
                <a:lnTo>
                  <a:pt x="0" y="0"/>
                </a:lnTo>
                <a:lnTo>
                  <a:pt x="0" y="140017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440" y="541733"/>
            <a:ext cx="4431695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dirty="0"/>
              <a:t>10 Lower Levels of Planning</a:t>
            </a:r>
          </a:p>
          <a:p>
            <a:pPr algn="just"/>
            <a:endParaRPr lang="en-US" sz="1100" dirty="0"/>
          </a:p>
          <a:p>
            <a:pPr algn="just"/>
            <a:r>
              <a:rPr lang="en-US" sz="1100" dirty="0"/>
              <a:t>As the project progresses, detailed planning is needed for upcoming tasks. Early-stage tasks can be fully planned in advance, but later-stage tasks might be planned in more detail as the project moves forward, since more information will be available by then.</a:t>
            </a:r>
          </a:p>
          <a:p>
            <a:pPr algn="just"/>
            <a:r>
              <a:rPr lang="en-US" sz="1100" dirty="0"/>
              <a:t>This is called progressive elaboration.</a:t>
            </a:r>
          </a:p>
          <a:p>
            <a:endParaRPr lang="en-US" sz="1100" b="1" dirty="0"/>
          </a:p>
          <a:p>
            <a:r>
              <a:rPr lang="en-US" sz="1100" b="1" dirty="0"/>
              <a:t>Example:</a:t>
            </a:r>
          </a:p>
          <a:p>
            <a:endParaRPr lang="en-US" sz="1100" b="1" dirty="0"/>
          </a:p>
          <a:p>
            <a:r>
              <a:rPr lang="en-US" sz="1100" dirty="0"/>
              <a:t>You don’t need to plan the entire reporting module in detail at the start. Once the database and user modules are complete, you’ll have a better idea of how the reporting module should work and can plan it then.</a:t>
            </a:r>
          </a:p>
          <a:p>
            <a:endParaRPr lang="en-US" sz="1100" b="1" dirty="0"/>
          </a:p>
          <a:p>
            <a:endParaRPr lang="en-US" sz="1100" dirty="0"/>
          </a:p>
          <a:p>
            <a:endParaRPr lang="en-US" sz="1100" b="1" dirty="0"/>
          </a:p>
          <a:p>
            <a:endParaRPr lang="en-US" sz="1100" b="1" dirty="0"/>
          </a:p>
          <a:p>
            <a:r>
              <a:rPr lang="en-US" sz="1100" dirty="0"/>
              <a:t> </a:t>
            </a:r>
            <a:endParaRPr lang="en-US" altLang="zh-CN" sz="1100" spc="-20" dirty="0">
              <a:latin typeface="Times New Roman"/>
              <a:ea typeface="Times New Roman"/>
            </a:endParaRPr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60367993-E6D8-4B4C-AC49-FCF20132C713}"/>
              </a:ext>
            </a:extLst>
          </p:cNvPr>
          <p:cNvSpPr/>
          <p:nvPr/>
        </p:nvSpPr>
        <p:spPr>
          <a:xfrm>
            <a:off x="4758" y="3359176"/>
            <a:ext cx="4603755" cy="95027"/>
          </a:xfrm>
          <a:custGeom>
            <a:avLst/>
            <a:gdLst>
              <a:gd name="connsiteX0" fmla="*/ 0 w 1535976"/>
              <a:gd name="connsiteY0" fmla="*/ 109651 h 109651"/>
              <a:gd name="connsiteX1" fmla="*/ 1535976 w 1535976"/>
              <a:gd name="connsiteY1" fmla="*/ 109651 h 109651"/>
              <a:gd name="connsiteX2" fmla="*/ 1535976 w 1535976"/>
              <a:gd name="connsiteY2" fmla="*/ 0 h 109651"/>
              <a:gd name="connsiteX3" fmla="*/ 0 w 1535976"/>
              <a:gd name="connsiteY3" fmla="*/ 0 h 109651"/>
              <a:gd name="connsiteX4" fmla="*/ 0 w 1535976"/>
              <a:gd name="connsiteY4" fmla="*/ 109651 h 1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5976" h="109651">
                <a:moveTo>
                  <a:pt x="0" y="109651"/>
                </a:moveTo>
                <a:lnTo>
                  <a:pt x="1535976" y="109651"/>
                </a:lnTo>
                <a:lnTo>
                  <a:pt x="1535976" y="0"/>
                </a:lnTo>
                <a:lnTo>
                  <a:pt x="0" y="0"/>
                </a:lnTo>
                <a:lnTo>
                  <a:pt x="0" y="109651"/>
                </a:lnTo>
                <a:close/>
              </a:path>
            </a:pathLst>
          </a:custGeom>
          <a:solidFill>
            <a:srgbClr val="4646B9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l" defTabSz="9133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F242E51-DF16-4C1F-A071-C7488362798C}"/>
              </a:ext>
            </a:extLst>
          </p:cNvPr>
          <p:cNvSpPr txBox="1">
            <a:spLocks/>
          </p:cNvSpPr>
          <p:nvPr/>
        </p:nvSpPr>
        <p:spPr>
          <a:xfrm>
            <a:off x="4262618" y="3318894"/>
            <a:ext cx="248256" cy="1267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ts val="6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600" b="0" i="0" u="none" strike="noStrike" kern="1200" cap="none" spc="-15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83559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17995</TotalTime>
  <Words>1851</Words>
  <Application>Microsoft Office PowerPoint</Application>
  <PresentationFormat>Custom</PresentationFormat>
  <Paragraphs>302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宋体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Sindhu Alapati</dc:creator>
  <cp:lastModifiedBy>sindhu</cp:lastModifiedBy>
  <cp:revision>725</cp:revision>
  <dcterms:created xsi:type="dcterms:W3CDTF">2011-01-21T15:00:27Z</dcterms:created>
  <dcterms:modified xsi:type="dcterms:W3CDTF">2025-06-26T04:23:55Z</dcterms:modified>
</cp:coreProperties>
</file>