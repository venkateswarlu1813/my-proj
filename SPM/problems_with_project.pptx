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344" r:id="rId2"/>
    <p:sldId id="606" r:id="rId3"/>
    <p:sldId id="615" r:id="rId4"/>
    <p:sldId id="616" r:id="rId5"/>
    <p:sldId id="617" r:id="rId6"/>
    <p:sldId id="618" r:id="rId7"/>
    <p:sldId id="619" r:id="rId8"/>
    <p:sldId id="622" r:id="rId9"/>
    <p:sldId id="623" r:id="rId10"/>
    <p:sldId id="624" r:id="rId11"/>
    <p:sldId id="625" r:id="rId12"/>
    <p:sldId id="626" r:id="rId13"/>
    <p:sldId id="627" r:id="rId14"/>
    <p:sldId id="628" r:id="rId15"/>
  </p:sldIdLst>
  <p:sldSz cx="4608513" cy="34559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T AP" initials="NA" lastIdx="1" clrIdx="0">
    <p:extLst>
      <p:ext uri="{19B8F6BF-5375-455C-9EA6-DF929625EA0E}">
        <p15:presenceInfo xmlns:p15="http://schemas.microsoft.com/office/powerpoint/2012/main" userId="NIT A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646B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 snapToObjects="1">
      <p:cViewPr varScale="1">
        <p:scale>
          <a:sx n="167" d="100"/>
          <a:sy n="167" d="100"/>
        </p:scale>
        <p:origin x="533" y="10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B7802-094E-4307-A812-AC720EB39FB3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A1D91-3FC5-4706-942A-2EB17840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06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19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400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5458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3834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314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5179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896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76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8789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5577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271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591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3707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3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6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3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4F96-94B7-463C-9FD0-A63BBE3D5E91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9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86B5-C70E-44B5-AD82-94D4AFCC796C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6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399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1pPr>
            <a:lvl2pPr marL="456697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2pPr>
            <a:lvl3pPr marL="91339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70090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4pPr>
            <a:lvl5pPr marL="182678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5pPr>
            <a:lvl6pPr marL="228348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6pPr>
            <a:lvl7pPr marL="2740181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7pPr>
            <a:lvl8pPr marL="319687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8pPr>
            <a:lvl9pPr marL="365357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DC4F-0DC8-4D33-B19A-B6FAFD3868A6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4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2916-D7E6-4A6A-8710-06D3C4413E3B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4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B9D93-06BC-495C-8E81-00767E992687}" type="datetime1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8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FBE6-780D-4C9B-B5A6-8A4D6CBAB732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4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2716-A65A-44CF-B1C8-1E98812BC267}" type="datetime1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0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CA44-A91E-452A-BD59-A23D8632BC32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0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197"/>
            </a:lvl1pPr>
            <a:lvl2pPr marL="456697" indent="0">
              <a:buNone/>
              <a:defRPr sz="2797"/>
            </a:lvl2pPr>
            <a:lvl3pPr marL="913393" indent="0">
              <a:buNone/>
              <a:defRPr sz="2398"/>
            </a:lvl3pPr>
            <a:lvl4pPr marL="1370090" indent="0">
              <a:buNone/>
              <a:defRPr sz="1998"/>
            </a:lvl4pPr>
            <a:lvl5pPr marL="1826788" indent="0">
              <a:buNone/>
              <a:defRPr sz="1998"/>
            </a:lvl5pPr>
            <a:lvl6pPr marL="2283485" indent="0">
              <a:buNone/>
              <a:defRPr sz="1998"/>
            </a:lvl6pPr>
            <a:lvl7pPr marL="2740181" indent="0">
              <a:buNone/>
              <a:defRPr sz="1998"/>
            </a:lvl7pPr>
            <a:lvl8pPr marL="3196878" indent="0">
              <a:buNone/>
              <a:defRPr sz="1998"/>
            </a:lvl8pPr>
            <a:lvl9pPr marL="3653575" indent="0">
              <a:buNone/>
              <a:defRPr sz="19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C4F7-5933-4283-B003-668DFAB1DE97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29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B12E-5A0F-4780-BAD8-E5B0EBBF60C0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C7D4-E350-45E3-9BB3-98AF5602D78E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1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E90DB-C893-42DF-A794-E3DA1AF971D2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456697" rtl="0" eaLnBrk="1" latinLnBrk="0" hangingPunct="1"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523" indent="-342523" algn="l" defTabSz="456697" rtl="0" eaLnBrk="1" latinLnBrk="0" hangingPunct="1">
        <a:spcBef>
          <a:spcPct val="20000"/>
        </a:spcBef>
        <a:buFont typeface="Arial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742133" indent="-285436" algn="l" defTabSz="456697" rtl="0" eaLnBrk="1" latinLnBrk="0" hangingPunct="1">
        <a:spcBef>
          <a:spcPct val="20000"/>
        </a:spcBef>
        <a:buFont typeface="Arial"/>
        <a:buChar char="–"/>
        <a:defRPr sz="2797" kern="1200">
          <a:solidFill>
            <a:schemeClr val="tx1"/>
          </a:solidFill>
          <a:latin typeface="+mn-lt"/>
          <a:ea typeface="+mn-ea"/>
          <a:cs typeface="+mn-cs"/>
        </a:defRPr>
      </a:lvl2pPr>
      <a:lvl3pPr marL="1141742" indent="-228349" algn="l" defTabSz="456697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439" indent="-228349" algn="l" defTabSz="456697" rtl="0" eaLnBrk="1" latinLnBrk="0" hangingPunct="1">
        <a:spcBef>
          <a:spcPct val="20000"/>
        </a:spcBef>
        <a:buFont typeface="Arial"/>
        <a:buChar char="–"/>
        <a:defRPr sz="19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136" indent="-228349" algn="l" defTabSz="456697" rtl="0" eaLnBrk="1" latinLnBrk="0" hangingPunct="1">
        <a:spcBef>
          <a:spcPct val="20000"/>
        </a:spcBef>
        <a:buFont typeface="Arial"/>
        <a:buChar char="»"/>
        <a:defRPr sz="1998" kern="1200">
          <a:solidFill>
            <a:schemeClr val="tx1"/>
          </a:solidFill>
          <a:latin typeface="+mn-lt"/>
          <a:ea typeface="+mn-ea"/>
          <a:cs typeface="+mn-cs"/>
        </a:defRPr>
      </a:lvl5pPr>
      <a:lvl6pPr marL="2511833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530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227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1924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697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393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09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78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48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181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687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57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2"/>
          <p:cNvSpPr/>
          <p:nvPr/>
        </p:nvSpPr>
        <p:spPr>
          <a:xfrm>
            <a:off x="2379" y="3359177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3393"/>
            <a:endParaRPr lang="en-US" sz="1798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1725C3-A998-4595-9599-9EEC6D541693}"/>
              </a:ext>
            </a:extLst>
          </p:cNvPr>
          <p:cNvSpPr/>
          <p:nvPr/>
        </p:nvSpPr>
        <p:spPr>
          <a:xfrm>
            <a:off x="131654" y="950947"/>
            <a:ext cx="4345204" cy="865389"/>
          </a:xfrm>
          <a:prstGeom prst="roundRect">
            <a:avLst/>
          </a:prstGeom>
          <a:solidFill>
            <a:srgbClr val="4646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393"/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Software Projects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/>
              <a:t>The project manager often focuses on what can go wrong and tries to prevent problems.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400" b="1" dirty="0"/>
              <a:t>Lack of quality standards and measures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No clear rules on what is considered </a:t>
            </a:r>
            <a:r>
              <a:rPr lang="en-US" sz="1100" b="1" dirty="0"/>
              <a:t>“good quality” software</a:t>
            </a:r>
            <a:r>
              <a:rPr lang="en-US" sz="11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Teams don’t know how to </a:t>
            </a:r>
            <a:r>
              <a:rPr lang="en-US" sz="1100" b="1" dirty="0"/>
              <a:t>measure quality</a:t>
            </a:r>
            <a:r>
              <a:rPr lang="en-US" sz="1100" dirty="0"/>
              <a:t>, so software may have </a:t>
            </a:r>
            <a:r>
              <a:rPr lang="en-US" sz="1100" b="1" dirty="0"/>
              <a:t>bugs or poor performance</a:t>
            </a:r>
            <a:r>
              <a:rPr lang="en-US" sz="11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Example: No testing rules — software is released with major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Poor estimates and plans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The project team often </a:t>
            </a:r>
            <a:r>
              <a:rPr lang="en-US" sz="1200" b="1" dirty="0"/>
              <a:t>underestimates or overestimates</a:t>
            </a:r>
            <a:r>
              <a:rPr lang="en-US" sz="1200" dirty="0"/>
              <a:t> time, cost, or resources.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This leads to </a:t>
            </a:r>
            <a:r>
              <a:rPr lang="en-US" sz="1200" b="1" dirty="0"/>
              <a:t>missed deadlines</a:t>
            </a:r>
            <a:r>
              <a:rPr lang="en-US" sz="1200" dirty="0"/>
              <a:t> or </a:t>
            </a:r>
            <a:r>
              <a:rPr lang="en-US" sz="1200" b="1" dirty="0"/>
              <a:t>overspending</a:t>
            </a:r>
            <a:r>
              <a:rPr lang="en-US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Example: Estimating that a website will take 2 weeks to build, but it takes 2 months.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356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Software Projects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21852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400" b="1" dirty="0"/>
              <a:t>Lack of guidance about making organizational decisions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Teams don’t know </a:t>
            </a:r>
            <a:r>
              <a:rPr lang="en-US" sz="1100" b="1" dirty="0"/>
              <a:t>who should make important decisions</a:t>
            </a:r>
            <a:r>
              <a:rPr lang="en-US" sz="1100" dirty="0"/>
              <a:t> or </a:t>
            </a:r>
            <a:r>
              <a:rPr lang="en-US" sz="1100" b="1" dirty="0"/>
              <a:t>what the priorities are</a:t>
            </a:r>
            <a:r>
              <a:rPr lang="en-US" sz="11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This causes </a:t>
            </a:r>
            <a:r>
              <a:rPr lang="en-US" sz="1100" b="1" dirty="0"/>
              <a:t>confusion and delays</a:t>
            </a:r>
            <a:r>
              <a:rPr lang="en-US" sz="11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Example: Should we add this new feature now or later? No one is sure who decides.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Lack of techniques to make progress visible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Progress is </a:t>
            </a:r>
            <a:r>
              <a:rPr lang="en-US" sz="1200" b="1" dirty="0"/>
              <a:t>not clearly tracked</a:t>
            </a:r>
            <a:r>
              <a:rPr lang="en-US" sz="1200" dirty="0"/>
              <a:t> or shown.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Stakeholders (like clients or managers) can’t tell if the project is </a:t>
            </a:r>
            <a:r>
              <a:rPr lang="en-US" sz="1200" b="1" dirty="0"/>
              <a:t>on track or behind</a:t>
            </a:r>
            <a:r>
              <a:rPr lang="en-US" sz="12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Example: There’s no dashboard, chart, or regular updates.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7196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Software Projects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2262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400" b="1" dirty="0"/>
              <a:t>Poor role definition – who does what?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Team members are </a:t>
            </a:r>
            <a:r>
              <a:rPr lang="en-US" sz="1200" b="1" dirty="0"/>
              <a:t>unclear about their responsibilities</a:t>
            </a:r>
            <a:r>
              <a:rPr lang="en-US" sz="12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Tasks may be repeated, missed, or delayed.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Example: Two people write the same module, while no one tests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Incorrect success criteria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No proper agreement on what “success” means.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The client may expect one thing, the developer delivers another.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Example: The project is “done” from the developer’s view but the client is unhappy.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8951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Software Projects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22775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IN" sz="1400" b="1" dirty="0"/>
              <a:t>Inadequate specification of work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The tasks or requirements were not clearly defined — developers didn’t know exactly what to do. Tasks may be repeated, missed, or delayed.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Example: Developer is told to “create a report system” but is not told what data, format, or filters are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Management ignorance of IT</a:t>
            </a:r>
            <a:endParaRPr lang="en-IN" sz="14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Managers do not understand how software or technology works, so they make unrealistic decisions or give poor guidance.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Example: A manager insists a complex feature must be done “in one day” without knowing it takes a week to implement.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7469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Software Projects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20928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400" b="1" dirty="0"/>
              <a:t>Lack of knowledge of application area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Developers don’t understand the domain they are building for (e.g., healthcare, banking), so they make incorrect assumptions.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Example: A student working on a hospital app doesn’t know how patient data is managed, so they design it wrong.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IN" sz="1400" b="1" dirty="0"/>
              <a:t>Lack of standards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No defined coding, testing, or documentation standards — everyone works differently, causing chaos.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Example: One developer names files "final1", "final2", another uses version control — there is no consistency.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9180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Software Projects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20928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400" b="1" dirty="0"/>
              <a:t>Lack of up-to-date documentation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Project documents (requirements, design, user guides) are outdated or missing — developers don’t have reliable reference materials.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 Example: Code is changed but the documentation still shows the old version.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IN" sz="1400" b="1" dirty="0"/>
              <a:t>Lack of standards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No defined coding, testing, or documentation standards — everyone works differently, causing chaos.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Example: One developer names files "final1", "final2", another uses version control — there is no consistency.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354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Software Projects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31393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b="1" dirty="0"/>
              <a:t>Lack of communication with users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Developers don’t receive clear or timely feedback from users.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IN" sz="1200" b="1" dirty="0"/>
              <a:t>Duplication of work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Poor coordination leads to two people working on the same thing.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b="1" dirty="0"/>
              <a:t>Lack of Commitment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When the project is dependent on one person who quits or loses interest.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b="1" dirty="0"/>
              <a:t>Narrow scope of technical expertise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Developers are not skilled enough to handle complex tasks.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altLang="zh-CN" sz="1200" b="1" spc="-20" dirty="0">
                <a:latin typeface="Times New Roman"/>
                <a:ea typeface="Times New Roman"/>
              </a:rPr>
              <a:t>Changing software requirements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Tools or technologies change during the project.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IN" sz="1200" b="1" dirty="0"/>
              <a:t>Deadline pressure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b="1" dirty="0"/>
              <a:t>L</a:t>
            </a:r>
            <a:r>
              <a:rPr lang="en-IN" sz="1200" b="1" dirty="0"/>
              <a:t>ack of quality control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b="1" dirty="0"/>
              <a:t>R</a:t>
            </a:r>
            <a:r>
              <a:rPr lang="en-IN" sz="1200" b="1" dirty="0"/>
              <a:t>emote management</a:t>
            </a:r>
          </a:p>
          <a:p>
            <a:pPr fontAlgn="base"/>
            <a:endParaRPr lang="en-IN" sz="1200" b="1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altLang="zh-CN" sz="1200" b="1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076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Control Cycle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/>
            <a:endParaRPr lang="en-IN" sz="1200" b="1" dirty="0"/>
          </a:p>
          <a:p>
            <a:pPr fontAlgn="base"/>
            <a:endParaRPr lang="en-IN" sz="1200" b="1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altLang="zh-CN" sz="1200" b="1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B1603-5232-415A-8A34-EB1F56C47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434085"/>
            <a:ext cx="3963923" cy="272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97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 Objectives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2585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/>
              <a:t>Why Are Objectives Important?</a:t>
            </a:r>
          </a:p>
          <a:p>
            <a:r>
              <a:rPr lang="en-US" sz="1200" dirty="0"/>
              <a:t>Define </a:t>
            </a:r>
            <a:r>
              <a:rPr lang="en-US" sz="1200" b="1" dirty="0"/>
              <a:t>what success means</a:t>
            </a:r>
            <a:r>
              <a:rPr lang="en-US" sz="1200" dirty="0"/>
              <a:t> for the project</a:t>
            </a:r>
          </a:p>
          <a:p>
            <a:r>
              <a:rPr lang="en-US" sz="1200" dirty="0"/>
              <a:t>Help the team </a:t>
            </a:r>
            <a:r>
              <a:rPr lang="en-US" sz="1200" b="1" dirty="0"/>
              <a:t>stay focused</a:t>
            </a:r>
            <a:r>
              <a:rPr lang="en-US" sz="1200" dirty="0"/>
              <a:t> on what’s essential</a:t>
            </a:r>
          </a:p>
          <a:p>
            <a:r>
              <a:rPr lang="en-US" sz="1200" dirty="0"/>
              <a:t>Allow tracking of project </a:t>
            </a:r>
            <a:r>
              <a:rPr lang="en-US" sz="1200" b="1" dirty="0"/>
              <a:t>progress and performance</a:t>
            </a:r>
            <a:endParaRPr lang="en-US" sz="1200" dirty="0"/>
          </a:p>
          <a:p>
            <a:pPr fontAlgn="base"/>
            <a:endParaRPr lang="en-US" sz="1200" b="1" dirty="0"/>
          </a:p>
          <a:p>
            <a:pPr fontAlgn="base"/>
            <a:endParaRPr lang="en-US" sz="1200" b="1" dirty="0"/>
          </a:p>
          <a:p>
            <a:r>
              <a:rPr lang="en-US" sz="1200" b="1" dirty="0"/>
              <a:t>Handling Multiple Users/Stakeholders</a:t>
            </a:r>
          </a:p>
          <a:p>
            <a:r>
              <a:rPr lang="en-US" sz="1200" dirty="0"/>
              <a:t>Different users may have different expectations</a:t>
            </a:r>
          </a:p>
          <a:p>
            <a:r>
              <a:rPr lang="en-US" sz="1200" dirty="0"/>
              <a:t>A </a:t>
            </a:r>
            <a:r>
              <a:rPr lang="en-US" sz="1200" b="1" dirty="0"/>
              <a:t>Project Authority</a:t>
            </a:r>
            <a:r>
              <a:rPr lang="en-US" sz="1200" dirty="0"/>
              <a:t> must be identified to finalize shared goals</a:t>
            </a:r>
          </a:p>
          <a:p>
            <a:r>
              <a:rPr lang="en-US" sz="1200" dirty="0"/>
              <a:t>Ensures all stakeholders </a:t>
            </a:r>
            <a:r>
              <a:rPr lang="en-US" sz="1200" b="1" dirty="0"/>
              <a:t>agree</a:t>
            </a:r>
            <a:r>
              <a:rPr lang="en-US" sz="1200" dirty="0"/>
              <a:t> on objectives</a:t>
            </a:r>
          </a:p>
          <a:p>
            <a:pPr fontAlgn="base"/>
            <a:endParaRPr lang="en-US" sz="1200" b="1" dirty="0"/>
          </a:p>
          <a:p>
            <a:pPr fontAlgn="base"/>
            <a:endParaRPr lang="en-US" sz="1200" b="1" dirty="0"/>
          </a:p>
          <a:p>
            <a:pPr fontAlgn="base"/>
            <a:endParaRPr lang="en-IN" sz="1200" b="1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altLang="zh-CN" sz="1200" b="1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8637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 Objectives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31393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/>
              <a:t>Who Sets Objectives?</a:t>
            </a:r>
          </a:p>
          <a:p>
            <a:r>
              <a:rPr lang="en-US" sz="1200" dirty="0"/>
              <a:t>A </a:t>
            </a:r>
            <a:r>
              <a:rPr lang="en-US" sz="1200" b="1" dirty="0"/>
              <a:t>Project Steering Committee</a:t>
            </a:r>
            <a:r>
              <a:rPr lang="en-US" sz="1200" dirty="0"/>
              <a:t> is often responsible</a:t>
            </a:r>
          </a:p>
          <a:p>
            <a:pPr lvl="1"/>
            <a:r>
              <a:rPr lang="en-US" sz="1200" dirty="0"/>
              <a:t>Includes users, developers, and managers</a:t>
            </a:r>
          </a:p>
          <a:p>
            <a:pPr lvl="1"/>
            <a:r>
              <a:rPr lang="en-US" sz="1200" dirty="0"/>
              <a:t>Can </a:t>
            </a:r>
            <a:r>
              <a:rPr lang="en-US" sz="1200" b="1" dirty="0"/>
              <a:t>modify objectives or resources</a:t>
            </a:r>
            <a:endParaRPr lang="en-US" sz="1200" dirty="0"/>
          </a:p>
          <a:p>
            <a:r>
              <a:rPr lang="en-US" sz="1200" dirty="0"/>
              <a:t>Project Manager handles day-to-day work and reports to this committee</a:t>
            </a:r>
          </a:p>
          <a:p>
            <a:pPr fontAlgn="base"/>
            <a:endParaRPr lang="en-US" sz="1200" b="1" dirty="0"/>
          </a:p>
          <a:p>
            <a:pPr fontAlgn="base"/>
            <a:endParaRPr lang="en-US" sz="1200" b="1" dirty="0"/>
          </a:p>
          <a:p>
            <a:r>
              <a:rPr lang="en-US" sz="1200" b="1" dirty="0"/>
              <a:t>Measures of Effectiveness</a:t>
            </a:r>
          </a:p>
          <a:p>
            <a:r>
              <a:rPr lang="en-US" sz="1200" dirty="0"/>
              <a:t>Objectives should be:</a:t>
            </a:r>
          </a:p>
          <a:p>
            <a:pPr lvl="1"/>
            <a:r>
              <a:rPr lang="en-US" sz="1200" b="1" dirty="0"/>
              <a:t>Specific</a:t>
            </a:r>
            <a:r>
              <a:rPr lang="en-US" sz="1200" dirty="0"/>
              <a:t> (e.g., “reduce complaints by 50%”)</a:t>
            </a:r>
          </a:p>
          <a:p>
            <a:pPr lvl="1"/>
            <a:r>
              <a:rPr lang="en-US" sz="1200" b="1" dirty="0"/>
              <a:t>Measurable</a:t>
            </a:r>
            <a:r>
              <a:rPr lang="en-US" sz="1200" dirty="0"/>
              <a:t> (e.g., “Install system by June 1”)</a:t>
            </a:r>
          </a:p>
          <a:p>
            <a:r>
              <a:rPr lang="en-US" sz="1200" dirty="0"/>
              <a:t>Avoid vague goals like “improve customer service”</a:t>
            </a:r>
          </a:p>
          <a:p>
            <a:pPr fontAlgn="base"/>
            <a:endParaRPr lang="en-US" sz="1200" b="1" dirty="0"/>
          </a:p>
          <a:p>
            <a:pPr fontAlgn="base"/>
            <a:endParaRPr lang="en-US" sz="1200" b="1" dirty="0"/>
          </a:p>
          <a:p>
            <a:pPr fontAlgn="base"/>
            <a:endParaRPr lang="en-IN" sz="1200" b="1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altLang="zh-CN" sz="1200" b="1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3243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-6853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3323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 sz="1200" b="1" dirty="0"/>
          </a:p>
          <a:p>
            <a:r>
              <a:rPr lang="en-IN" sz="1200" b="1" dirty="0"/>
              <a:t>Sub-objectives and Goals</a:t>
            </a:r>
            <a:endParaRPr lang="en-IN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Break large objectives into </a:t>
            </a:r>
            <a:r>
              <a:rPr lang="en-IN" sz="1200" b="1" dirty="0"/>
              <a:t>smaller, manageable goals</a:t>
            </a:r>
            <a:endParaRPr lang="en-IN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Each goal is a step toward the final objective</a:t>
            </a:r>
          </a:p>
          <a:p>
            <a:r>
              <a:rPr lang="en-IN" sz="1200" b="1" dirty="0"/>
              <a:t>Example:</a:t>
            </a:r>
            <a:endParaRPr lang="en-IN" sz="1200" dirty="0"/>
          </a:p>
          <a:p>
            <a:pPr lvl="1"/>
            <a:r>
              <a:rPr lang="en-IN" sz="1200" dirty="0"/>
              <a:t>Main Objective: Launch Online Student Portal</a:t>
            </a:r>
            <a:br>
              <a:rPr lang="en-IN" sz="1200" dirty="0"/>
            </a:br>
            <a:r>
              <a:rPr lang="en-IN" sz="1200" dirty="0"/>
              <a:t>Sub-goals:</a:t>
            </a:r>
          </a:p>
          <a:p>
            <a:pPr lvl="1"/>
            <a:r>
              <a:rPr lang="en-IN" sz="1200" dirty="0"/>
              <a:t>Develop backend</a:t>
            </a:r>
          </a:p>
          <a:p>
            <a:pPr lvl="1"/>
            <a:r>
              <a:rPr lang="en-IN" sz="1200" dirty="0"/>
              <a:t>Test UI</a:t>
            </a:r>
          </a:p>
          <a:p>
            <a:pPr lvl="1"/>
            <a:r>
              <a:rPr lang="en-IN" sz="1200" dirty="0"/>
              <a:t>Train staff</a:t>
            </a:r>
          </a:p>
          <a:p>
            <a:pPr lvl="1"/>
            <a:r>
              <a:rPr lang="en-IN" sz="1200" dirty="0"/>
              <a:t>Upload student data</a:t>
            </a:r>
          </a:p>
          <a:p>
            <a:pPr fontAlgn="base"/>
            <a:endParaRPr lang="en-US" sz="1200" b="1" dirty="0"/>
          </a:p>
          <a:p>
            <a:pPr fontAlgn="base"/>
            <a:endParaRPr lang="en-US" sz="1200" b="1" dirty="0"/>
          </a:p>
          <a:p>
            <a:pPr fontAlgn="base"/>
            <a:endParaRPr lang="en-US" sz="1200" b="1" dirty="0"/>
          </a:p>
          <a:p>
            <a:pPr fontAlgn="base"/>
            <a:endParaRPr lang="en-US" sz="1200" b="1" dirty="0"/>
          </a:p>
          <a:p>
            <a:pPr fontAlgn="base"/>
            <a:endParaRPr lang="en-US" sz="1200" b="1" dirty="0"/>
          </a:p>
          <a:p>
            <a:pPr fontAlgn="base"/>
            <a:endParaRPr lang="en-IN" sz="1200" b="1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altLang="zh-CN" sz="1200" b="1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2433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 sz="1200" b="1" dirty="0"/>
          </a:p>
          <a:p>
            <a:r>
              <a:rPr lang="en-IN" sz="1200" b="1" dirty="0"/>
              <a:t>Stakeholders</a:t>
            </a:r>
          </a:p>
          <a:p>
            <a:endParaRPr lang="en-IN" sz="1200" b="1" dirty="0"/>
          </a:p>
          <a:p>
            <a:r>
              <a:rPr lang="en-US" sz="1200" dirty="0"/>
              <a:t>Stakeholders are </a:t>
            </a:r>
            <a:r>
              <a:rPr lang="en-US" sz="1200" b="1" dirty="0"/>
              <a:t>people who have a stake, interest, or influence</a:t>
            </a:r>
            <a:r>
              <a:rPr lang="en-US" sz="1200" dirty="0"/>
              <a:t> in a project’s outcome.</a:t>
            </a:r>
          </a:p>
          <a:p>
            <a:r>
              <a:rPr lang="en-US" sz="1200" dirty="0"/>
              <a:t>This includes:</a:t>
            </a:r>
          </a:p>
          <a:p>
            <a:r>
              <a:rPr lang="en-US" sz="1200" dirty="0"/>
              <a:t>End users, Project team members, Managers, Clients, Contractors</a:t>
            </a:r>
          </a:p>
          <a:p>
            <a:endParaRPr lang="en-IN" sz="1200" dirty="0"/>
          </a:p>
          <a:p>
            <a:pPr fontAlgn="base"/>
            <a:r>
              <a:rPr lang="en-US" sz="1200" b="1" dirty="0"/>
              <a:t>It is important to define stakeholders early</a:t>
            </a:r>
          </a:p>
          <a:p>
            <a:pPr fontAlgn="base"/>
            <a:endParaRPr lang="en-US" sz="1200" b="1" dirty="0"/>
          </a:p>
          <a:p>
            <a:pPr fontAlgn="base"/>
            <a:endParaRPr lang="en-US" sz="1200" b="1" dirty="0"/>
          </a:p>
          <a:p>
            <a:pPr fontAlgn="base"/>
            <a:endParaRPr lang="en-US" sz="1200" b="1" dirty="0"/>
          </a:p>
          <a:p>
            <a:pPr fontAlgn="base"/>
            <a:endParaRPr lang="en-US" sz="1200" b="1" dirty="0"/>
          </a:p>
          <a:p>
            <a:pPr fontAlgn="base"/>
            <a:endParaRPr lang="en-IN" sz="1200" b="1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altLang="zh-CN" sz="1200" b="1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DEC0B8-2CAD-4D50-9910-81601AA3A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12" y="2369539"/>
            <a:ext cx="23639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Communicate clearly with them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Understand their needs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Avoid conflicts later in the project</a:t>
            </a:r>
          </a:p>
        </p:txBody>
      </p:sp>
    </p:spTree>
    <p:extLst>
      <p:ext uri="{BB962C8B-B14F-4D97-AF65-F5344CB8AC3E}">
        <p14:creationId xmlns:p14="http://schemas.microsoft.com/office/powerpoint/2010/main" val="1905057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0877"/>
            <a:ext cx="4431695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/>
              <a:t>Internal to the Project Team: </a:t>
            </a:r>
            <a:r>
              <a:rPr lang="en-US" sz="1200" dirty="0"/>
              <a:t>Directly involved in day-to-day work</a:t>
            </a:r>
          </a:p>
          <a:p>
            <a:r>
              <a:rPr lang="en-US" sz="1200" dirty="0"/>
              <a:t>Under the </a:t>
            </a:r>
            <a:r>
              <a:rPr lang="en-US" sz="1200" b="1" dirty="0"/>
              <a:t>control of the project leader</a:t>
            </a:r>
            <a:endParaRPr lang="en-US" sz="1200" dirty="0"/>
          </a:p>
          <a:p>
            <a:r>
              <a:rPr lang="en-US" sz="1200" dirty="0"/>
              <a:t>Examples: Developers, Testers, Project manager</a:t>
            </a:r>
          </a:p>
          <a:p>
            <a:endParaRPr lang="en-US" sz="1200" dirty="0"/>
          </a:p>
          <a:p>
            <a:r>
              <a:rPr lang="en-US" sz="1200" b="1" dirty="0"/>
              <a:t>External to the Team but Within the Organization: </a:t>
            </a:r>
            <a:r>
              <a:rPr lang="en-US" sz="1200" dirty="0"/>
              <a:t>Not in the core team, but from the </a:t>
            </a:r>
            <a:r>
              <a:rPr lang="en-US" sz="1200" b="1" dirty="0"/>
              <a:t>same organization. </a:t>
            </a:r>
            <a:r>
              <a:rPr lang="en-US" sz="1200" dirty="0"/>
              <a:t>Their support is needed for the project to succeed</a:t>
            </a:r>
          </a:p>
          <a:p>
            <a:r>
              <a:rPr lang="en-US" sz="1200" dirty="0"/>
              <a:t>Examples: IT support team, Business analysts from other departments</a:t>
            </a:r>
          </a:p>
          <a:p>
            <a:pPr fontAlgn="base"/>
            <a:endParaRPr lang="en-IN" sz="1200" b="1" dirty="0"/>
          </a:p>
          <a:p>
            <a:r>
              <a:rPr lang="en-US" sz="1200" b="1" dirty="0"/>
              <a:t>External to Both the Team and the Organization: </a:t>
            </a:r>
            <a:r>
              <a:rPr lang="en-US" sz="1200" dirty="0"/>
              <a:t>Outside contractors, clients, or users. Usually bound by </a:t>
            </a:r>
            <a:r>
              <a:rPr lang="en-US" sz="1200" b="1" dirty="0"/>
              <a:t>legal contracts</a:t>
            </a:r>
            <a:endParaRPr lang="en-US" sz="1200" dirty="0"/>
          </a:p>
          <a:p>
            <a:r>
              <a:rPr lang="en-US" sz="1200" dirty="0"/>
              <a:t>Examples:</a:t>
            </a:r>
          </a:p>
          <a:p>
            <a:pPr lvl="1"/>
            <a:r>
              <a:rPr lang="en-US" sz="1200" dirty="0"/>
              <a:t>A customer who paid for the software</a:t>
            </a:r>
          </a:p>
          <a:p>
            <a:pPr lvl="1"/>
            <a:r>
              <a:rPr lang="en-US" sz="1200" dirty="0"/>
              <a:t>A third-party vendor helping with development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altLang="zh-CN" sz="1200" b="1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18817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17400</TotalTime>
  <Words>1041</Words>
  <Application>Microsoft Office PowerPoint</Application>
  <PresentationFormat>Custom</PresentationFormat>
  <Paragraphs>162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宋体</vt:lpstr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Sindhu Alapati</dc:creator>
  <cp:lastModifiedBy>sindhu</cp:lastModifiedBy>
  <cp:revision>692</cp:revision>
  <dcterms:created xsi:type="dcterms:W3CDTF">2011-01-21T15:00:27Z</dcterms:created>
  <dcterms:modified xsi:type="dcterms:W3CDTF">2025-06-19T09:44:25Z</dcterms:modified>
</cp:coreProperties>
</file>